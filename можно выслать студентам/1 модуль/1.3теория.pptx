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Nunito Sans" pitchFamily="2" charset="-52"/>
      <p:regular r:id="rId11"/>
    </p:embeddedFont>
    <p:embeddedFont>
      <p:font typeface="Nunito Sans Bold" charset="-52"/>
      <p:regular r:id="rId1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99265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993106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Роль человека в работе с ИИ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3457873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Когда вы используете ИИ для кода, главный вопрос не в том, может ли он писать. Вопрос в том,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где вы находитесь в процессе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и какую самостоятельность ему даёте.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661475" y="4577755"/>
            <a:ext cx="5486560" cy="287139"/>
          </a:xfrm>
          <a:prstGeom prst="roundRect">
            <a:avLst>
              <a:gd name="adj" fmla="val 22118"/>
            </a:avLst>
          </a:prstGeom>
          <a:solidFill>
            <a:srgbClr val="DFF6D5"/>
          </a:solidFill>
          <a:ln/>
        </p:spPr>
      </p:sp>
      <p:sp>
        <p:nvSpPr>
          <p:cNvPr id="7" name="Text 4"/>
          <p:cNvSpPr/>
          <p:nvPr/>
        </p:nvSpPr>
        <p:spPr>
          <a:xfrm>
            <a:off x="774879" y="4634409"/>
            <a:ext cx="5869337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ОДИН ИНСТРУМЕНТ — ТРИ РАЗНЫХ ПОДХОДА К ВЗАИМОДЕЙСТВИЮ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0248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Человек в контуре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1846659"/>
            <a:ext cx="751285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Вы остаётесь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активным участником каждого шага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 Цикл выглядит так:</a:t>
            </a:r>
            <a:endParaRPr lang="en-US" sz="14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201" y="2361704"/>
            <a:ext cx="6903269" cy="270629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798511" y="2494426"/>
            <a:ext cx="1263687" cy="406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Поставить задачу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10107349" y="2494426"/>
            <a:ext cx="1263687" cy="406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Получить вариант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10107349" y="4529013"/>
            <a:ext cx="1263687" cy="406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Проанализировать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4798511" y="4325915"/>
            <a:ext cx="1263687" cy="6092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Скорректировать и использовать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4633201" y="5280620"/>
            <a:ext cx="690326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ИИ ускоряет работу, но ответственность остаётся у вас. Подходит для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критичных частей системы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где цена ошибки высокая.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775" y="504924"/>
            <a:ext cx="4385855" cy="5848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38460"/>
            <a:ext cx="6296860" cy="581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Человек на ревью</a:t>
            </a:r>
            <a:endParaRPr lang="en-US" sz="3650" dirty="0"/>
          </a:p>
        </p:txBody>
      </p:sp>
      <p:sp>
        <p:nvSpPr>
          <p:cNvPr id="5" name="Shape 2"/>
          <p:cNvSpPr/>
          <p:nvPr/>
        </p:nvSpPr>
        <p:spPr>
          <a:xfrm>
            <a:off x="527533" y="1394619"/>
            <a:ext cx="3189406" cy="4924822"/>
          </a:xfrm>
          <a:prstGeom prst="roundRect">
            <a:avLst>
              <a:gd name="adj" fmla="val 4200"/>
            </a:avLst>
          </a:prstGeom>
          <a:solidFill>
            <a:srgbClr val="061B40"/>
          </a:solidFill>
          <a:ln/>
        </p:spPr>
      </p:sp>
      <p:sp>
        <p:nvSpPr>
          <p:cNvPr id="6" name="Text 3"/>
          <p:cNvSpPr/>
          <p:nvPr/>
        </p:nvSpPr>
        <p:spPr>
          <a:xfrm>
            <a:off x="713563" y="1577777"/>
            <a:ext cx="2817345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Как это работает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13563" y="2051645"/>
            <a:ext cx="2817345" cy="2527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spcAft>
                <a:spcPts val="1250"/>
              </a:spcAft>
              <a:buNone/>
            </a:pPr>
            <a:r>
              <a:rPr lang="en-US" sz="1450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Вы формулируете задачу — система готовит результат — вы проверяете перед использованием.</a:t>
            </a:r>
            <a:endParaRPr lang="en-US" sz="1450" dirty="0"/>
          </a:p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Похоже на работу с коллегой: не контролируете каждую строку, но </a:t>
            </a:r>
            <a:r>
              <a:rPr lang="en-US" sz="1450" b="1" dirty="0">
                <a:solidFill>
                  <a:srgbClr val="FFFFFF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обязательно проверяете итог</a:t>
            </a:r>
            <a:r>
              <a:rPr lang="en-US" sz="1450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4043162" y="1577777"/>
            <a:ext cx="2921522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Что важно</a:t>
            </a:r>
            <a:endParaRPr lang="en-US" sz="18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43162" y="2074466"/>
            <a:ext cx="2921522" cy="17825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56189" y="2285901"/>
            <a:ext cx="2397065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Хорошие тесты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356189" y="2759770"/>
            <a:ext cx="239706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Без них сложно понять, работает ли результат корректно.</a:t>
            </a:r>
            <a:endParaRPr lang="en-US" sz="14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43162" y="4040188"/>
            <a:ext cx="2921522" cy="207327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56189" y="4251623"/>
            <a:ext cx="2397065" cy="581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Понимание приоритетов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4356189" y="5016202"/>
            <a:ext cx="239706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Знайте, что проверять в первую очередь, чтобы не упустить критичное.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Автономный агент с лимитами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661475" y="3239790"/>
            <a:ext cx="5315512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ИИ получает цель, а не команду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61475" y="3442295"/>
            <a:ext cx="5315512" cy="23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Агент сам определяет последовательность действий, использует инструменты и анализирует результаты — без вашего участия на каждом шаге.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661475" y="3734891"/>
            <a:ext cx="5315512" cy="256977"/>
          </a:xfrm>
          <a:prstGeom prst="roundRect">
            <a:avLst>
              <a:gd name="adj" fmla="val 15929"/>
            </a:avLst>
          </a:prstGeom>
          <a:solidFill>
            <a:srgbClr val="FCF2B5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05" y="3812977"/>
            <a:ext cx="121738" cy="974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8074" y="3804345"/>
            <a:ext cx="551106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Ошибка автономной системы может быть масштабнее, чем ошибка в одном запросе.</a:t>
            </a:r>
            <a:endParaRPr lang="en-US" sz="7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058" y="961132"/>
            <a:ext cx="5315512" cy="53156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89" y="500955"/>
            <a:ext cx="4391808" cy="58559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40048"/>
            <a:ext cx="6296860" cy="11261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Chain-of-Thought: пошаговое решение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5233360" y="1923752"/>
            <a:ext cx="6296860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Вместо попытки сразу получить ответ система </a:t>
            </a:r>
            <a:r>
              <a:rPr lang="en-US" sz="14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разбивает сложную задачу на этапы анализа</a:t>
            </a: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3360" y="2679898"/>
            <a:ext cx="6296860" cy="28819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54877" y="4763576"/>
            <a:ext cx="1182176" cy="455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Предложить изменение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565012" y="4649707"/>
            <a:ext cx="1182176" cy="68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Проверить предположение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083243" y="4877444"/>
            <a:ext cx="1182176" cy="227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Найти место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569086" y="4763576"/>
            <a:ext cx="1182176" cy="455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Понять ошибку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233360" y="5754985"/>
            <a:ext cx="6296860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Помогает модели работать со сложностью, но </a:t>
            </a:r>
            <a:r>
              <a:rPr lang="en-US" sz="14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не заменяет проверку человеком</a:t>
            </a: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8559"/>
            <a:ext cx="10868745" cy="4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Self-Correction: самопроверка</a:t>
            </a:r>
            <a:endParaRPr lang="en-US" sz="3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345902"/>
            <a:ext cx="3560475" cy="35605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02940" y="2616101"/>
            <a:ext cx="693353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Как работает цикл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602940" y="2980730"/>
            <a:ext cx="6933530" cy="667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Полезно, когда первый вариант может быть неполным. Повышает качество, но </a:t>
            </a:r>
            <a:r>
              <a:rPr lang="en-US" sz="12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не гарантирует правильность</a:t>
            </a:r>
            <a:r>
              <a:rPr lang="en-US" sz="12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если модель неверно поняла задачу, проверка будет на основе ошибочного предположения.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5187057"/>
            <a:ext cx="3622882" cy="6142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14962" y="5926038"/>
            <a:ext cx="3315907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Получить задачу</a:t>
            </a:r>
            <a:endParaRPr lang="en-US" sz="15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4357" y="5187057"/>
            <a:ext cx="3622882" cy="61426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437844" y="5926038"/>
            <a:ext cx="3315907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Сформировать решение</a:t>
            </a:r>
            <a:endParaRPr lang="en-US" sz="15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7239" y="5187057"/>
            <a:ext cx="3622882" cy="61426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060726" y="5926038"/>
            <a:ext cx="3315907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Проверить его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RAG: контекст из внешних источников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661475" y="3256855"/>
            <a:ext cx="5315512" cy="399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spcAft>
                <a:spcPts val="350"/>
              </a:spcAft>
              <a:buNone/>
            </a:pPr>
            <a:r>
              <a:rPr lang="en-US" sz="7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Большой проект содержит тысячи файлов, правила, документацию, архитектурные решения. Если передать модели только фрагмент — она может не знать важные детали.</a:t>
            </a:r>
            <a:endParaRPr lang="en-US" sz="750" dirty="0"/>
          </a:p>
          <a:p>
            <a:pPr marL="0" indent="0" algn="l">
              <a:lnSpc>
                <a:spcPct val="101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RAG подключает внешнюю информацию перед ответом:</a:t>
            </a:r>
            <a:r>
              <a:rPr lang="en-US" sz="7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документация, база знаний, файлы проекта.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661475" y="3712666"/>
            <a:ext cx="5315512" cy="256977"/>
          </a:xfrm>
          <a:prstGeom prst="roundRect">
            <a:avLst>
              <a:gd name="adj" fmla="val 15929"/>
            </a:avLst>
          </a:prstGeom>
          <a:solidFill>
            <a:srgbClr val="DFF6D5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05" y="3790752"/>
            <a:ext cx="121738" cy="9743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78074" y="3782120"/>
            <a:ext cx="551106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Качество ответа зависит не только от модели, но и от того, какой контекст она получила.</a:t>
            </a:r>
            <a:endParaRPr lang="en-US" sz="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058" y="961132"/>
            <a:ext cx="5315512" cy="53156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6" y="504924"/>
            <a:ext cx="4385855" cy="5848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91542"/>
            <a:ext cx="6296860" cy="581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Выбор подхода под задачу</a:t>
            </a:r>
            <a:endParaRPr lang="en-US" sz="3650" dirty="0"/>
          </a:p>
        </p:txBody>
      </p:sp>
      <p:sp>
        <p:nvSpPr>
          <p:cNvPr id="5" name="Text 2"/>
          <p:cNvSpPr/>
          <p:nvPr/>
        </p:nvSpPr>
        <p:spPr>
          <a:xfrm>
            <a:off x="5233360" y="1447701"/>
            <a:ext cx="62968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Нет универсального режима для всех ситуаций. Главное —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правильное распределение ответственности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2244229"/>
            <a:ext cx="3056853" cy="1961852"/>
          </a:xfrm>
          <a:prstGeom prst="roundRect">
            <a:avLst>
              <a:gd name="adj" fmla="val 3983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25741" y="2436614"/>
            <a:ext cx="2672093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Много неизвестных?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25741" y="2837160"/>
            <a:ext cx="2672093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Человек в контуре — контролируйте каждый шаг.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473367" y="2244229"/>
            <a:ext cx="3056853" cy="1961852"/>
          </a:xfrm>
          <a:prstGeom prst="roundRect">
            <a:avLst>
              <a:gd name="adj" fmla="val 3983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65747" y="2436614"/>
            <a:ext cx="2672093" cy="581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Задача хорошо описана?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65747" y="3127871"/>
            <a:ext cx="2672093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Человек на ревью — доверяйте, но проверяйте итог.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233360" y="4389239"/>
            <a:ext cx="6296860" cy="1080591"/>
          </a:xfrm>
          <a:prstGeom prst="roundRect">
            <a:avLst>
              <a:gd name="adj" fmla="val 7232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25741" y="4581624"/>
            <a:ext cx="591209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Повторяющиеся действия?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425741" y="4982170"/>
            <a:ext cx="591209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Автономный агент — с чёткими ограничениями.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5233360" y="5675809"/>
            <a:ext cx="62968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Самостоятельность ИИ должна соответствовать </a:t>
            </a: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сложности задачи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и возможным последствиям ошибки.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412</Words>
  <Application>Microsoft Office PowerPoint</Application>
  <PresentationFormat>Широкоэкранный</PresentationFormat>
  <Paragraphs>57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Nunito Sans</vt:lpstr>
      <vt:lpstr>Nunito Sans Bold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2026-09-20T13:12:16Z</dcterms:created>
  <dcterms:modified xsi:type="dcterms:W3CDTF">2026-09-20T20:06:20Z</dcterms:modified>
</cp:coreProperties>
</file>