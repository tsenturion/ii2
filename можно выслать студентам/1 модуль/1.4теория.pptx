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Nunito Sans" pitchFamily="2" charset="-52"/>
      <p:regular r:id="rId13"/>
    </p:embeddedFont>
    <p:embeddedFont>
      <p:font typeface="Nunito Sans Bold" charset="-52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3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1192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4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30502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Место AI-инструментов в современной разработке</a:t>
            </a:r>
            <a:endParaRPr lang="en-US" sz="3700" dirty="0"/>
          </a:p>
        </p:txBody>
      </p:sp>
      <p:sp>
        <p:nvSpPr>
          <p:cNvPr id="5" name="Text 2"/>
          <p:cNvSpPr/>
          <p:nvPr/>
        </p:nvSpPr>
        <p:spPr>
          <a:xfrm>
            <a:off x="5233360" y="2769791"/>
            <a:ext cx="629686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Искусственный интеллект стал частью самого рабочего процесса разработчика — не отдельной программой, а встроенным слоем. Разные инструменты решают разные задачи: одни ускоряют написание кода, другие анализируют целые проекты, третьи действуют автономно.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5233360" y="4494510"/>
            <a:ext cx="6296860" cy="1058366"/>
          </a:xfrm>
          <a:prstGeom prst="roundRect">
            <a:avLst>
              <a:gd name="adj" fmla="val 7501"/>
            </a:avLst>
          </a:prstGeom>
          <a:solidFill>
            <a:srgbClr val="DFF6D5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2367" y="4762202"/>
            <a:ext cx="236234" cy="1890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47608" y="4730750"/>
            <a:ext cx="549360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Главное — понимать, какой инструмент для какой задачи подходит.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2711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AI-ассистенты в среде разработки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113855"/>
            <a:ext cx="3504219" cy="35043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33201" y="2722463"/>
            <a:ext cx="6903269" cy="2286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Встроенные в редактор ассистенты анализируют ваш код и контекст прямо во время работы — предлагают продолжение, объясняют ошибки, подсказывают улучшения. Не нужно копировать код в чат и возвращаться обратно.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Такие инструменты работают в рамках отдельных запросов. Они отлично справляются с конкретными операциями, но не планируют большие изменения проекта самостоятельно.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263" y="506909"/>
            <a:ext cx="4382879" cy="58440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93030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Диалоговые интерфейсы для работы с кодом</a:t>
            </a:r>
            <a:endParaRPr lang="en-US" sz="3700" dirty="0"/>
          </a:p>
        </p:txBody>
      </p:sp>
      <p:sp>
        <p:nvSpPr>
          <p:cNvPr id="5" name="Shape 2"/>
          <p:cNvSpPr/>
          <p:nvPr/>
        </p:nvSpPr>
        <p:spPr>
          <a:xfrm>
            <a:off x="661475" y="2057797"/>
            <a:ext cx="3053877" cy="2613918"/>
          </a:xfrm>
          <a:prstGeom prst="roundRect">
            <a:avLst>
              <a:gd name="adj" fmla="val 3037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6832" y="2253159"/>
            <a:ext cx="26631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Что умеют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6832" y="2661841"/>
            <a:ext cx="2663163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Описывать задачи обычным языком: объяснить сложный код, подготовить документацию, разобраться в ошибке. Гибче, чем точные команды.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2057797"/>
            <a:ext cx="3053976" cy="2613918"/>
          </a:xfrm>
          <a:prstGeom prst="roundRect">
            <a:avLst>
              <a:gd name="adj" fmla="val 3037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099715" y="2253159"/>
            <a:ext cx="266326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Ограничение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9715" y="2661841"/>
            <a:ext cx="2663262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Чат предоставляет информацию, но не изменяет сам проект. Применение результата остаётся вашей задачей.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4860727"/>
            <a:ext cx="6296860" cy="1404243"/>
          </a:xfrm>
          <a:prstGeom prst="roundRect">
            <a:avLst>
              <a:gd name="adj" fmla="val 5653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6832" y="5056088"/>
            <a:ext cx="59061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Лучшее применение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6832" y="5464770"/>
            <a:ext cx="590614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Анализ и обучение. Чаты не заменяют полный процесс разработки, но отлично дополняют его.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4838" y="494407"/>
            <a:ext cx="4401730" cy="58691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94730"/>
            <a:ext cx="6296860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AI-инструменты с агентным подходом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661475" y="2125266"/>
            <a:ext cx="2940969" cy="349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spcAft>
                <a:spcPts val="1050"/>
              </a:spcAft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 отличается от помощника тем, что получает цель и сам разбивает её на этапы. Он анализирует результаты и повторяет действия без постоянного вмешательства человека.</a:t>
            </a:r>
            <a:endParaRPr lang="en-US" sz="1300" dirty="0"/>
          </a:p>
          <a:p>
            <a:pPr marL="0" indent="0" algn="l">
              <a:lnSpc>
                <a:spcPct val="127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Пример:</a:t>
            </a: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вместо объяснения, какие файлы менять, агент сам изучает проект, находит места использования зависимости, подготавливает изменения и проверяет результат.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023716" y="2159794"/>
            <a:ext cx="2940969" cy="1394619"/>
          </a:xfrm>
          <a:prstGeom prst="roundRect">
            <a:avLst>
              <a:gd name="adj" fmla="val 5123"/>
            </a:avLst>
          </a:prstGeom>
          <a:solidFill>
            <a:srgbClr val="FCF2B5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772" y="2390676"/>
            <a:ext cx="212620" cy="17006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6450" y="2339975"/>
            <a:ext cx="2218178" cy="1034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Всегда ограничивайте автономность агента правилами безопасности — это критически важно.</a:t>
            </a:r>
            <a:endParaRPr lang="en-US" sz="13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23716" y="3726656"/>
            <a:ext cx="2940969" cy="10555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289020" y="3915767"/>
            <a:ext cx="248655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Помощник</a:t>
            </a:r>
            <a:endParaRPr lang="en-US" sz="1650" dirty="0"/>
          </a:p>
        </p:txBody>
      </p:sp>
      <p:sp>
        <p:nvSpPr>
          <p:cNvPr id="11" name="Text 6"/>
          <p:cNvSpPr/>
          <p:nvPr/>
        </p:nvSpPr>
        <p:spPr>
          <a:xfrm>
            <a:off x="4289020" y="4334570"/>
            <a:ext cx="248655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Отвечает на запрос</a:t>
            </a:r>
            <a:endParaRPr lang="en-US" sz="13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23716" y="4935339"/>
            <a:ext cx="2940969" cy="105558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289020" y="5124450"/>
            <a:ext cx="2486558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Агент</a:t>
            </a:r>
            <a:endParaRPr lang="en-US" sz="1650" dirty="0"/>
          </a:p>
        </p:txBody>
      </p:sp>
      <p:sp>
        <p:nvSpPr>
          <p:cNvPr id="14" name="Text 8"/>
          <p:cNvSpPr/>
          <p:nvPr/>
        </p:nvSpPr>
        <p:spPr>
          <a:xfrm>
            <a:off x="4289020" y="5543252"/>
            <a:ext cx="2486558" cy="2585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Достигает цели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81720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Агентные фреймворки</a:t>
            </a:r>
            <a:endParaRPr lang="en-US" sz="2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599" y="1296095"/>
            <a:ext cx="7912398" cy="4191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35105" y="4291392"/>
            <a:ext cx="1956330" cy="24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Анализ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3095988" y="4605500"/>
            <a:ext cx="2095447" cy="35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Оценка контекста и формулировка задачи.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2469963" y="1825268"/>
            <a:ext cx="1956330" cy="24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Поиск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330846" y="2139375"/>
            <a:ext cx="2095447" cy="35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Идентификация данных и инструментов для решения.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26038" y="1649194"/>
            <a:ext cx="1956330" cy="24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Действие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026038" y="1963301"/>
            <a:ext cx="2095447" cy="528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Выполнение операций через выбранные инструменты.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65096" y="4291528"/>
            <a:ext cx="1956329" cy="244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Проверка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65096" y="4605636"/>
            <a:ext cx="2095447" cy="3521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Оценка результатов и корректировка стратегии.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1475" y="5623123"/>
            <a:ext cx="10868745" cy="6530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Фреймворки организуют логику взаимодействия между моделью, памятью, внешними инструментами и состоянием задачи. Сам фреймворк — организатор процесса, а интеллектуальные решения принимает подключённая языковая модель. Применяются для автоматизации анализа кода, создания тестов и подготовки документации.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4768"/>
            <a:ext cx="10868745" cy="304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LangGraph и сложные рабочие процессы</a:t>
            </a:r>
            <a:endParaRPr lang="en-US" sz="1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1132"/>
            <a:ext cx="5315512" cy="531564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21058" y="3301206"/>
            <a:ext cx="5315512" cy="635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1000"/>
              </a:lnSpc>
              <a:spcAft>
                <a:spcPts val="350"/>
              </a:spcAft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LangGraph представляет работу агента как управляемый процесс с состояниями и переходами. Система сохраняет промежуточные результаты и принимает решения о следующем шаге.</a:t>
            </a:r>
            <a:endParaRPr lang="en-US" sz="750" dirty="0"/>
          </a:p>
          <a:p>
            <a:pPr marL="0" indent="0" algn="l">
              <a:lnSpc>
                <a:spcPct val="101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Особенно полезен для задач из нескольких взаимосвязанных операций. Ключевое преимущество — вы контролируете, какие действия разрешены агенту, какие данные ему доступны и когда нужно вмешательство человека.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501" y="500559"/>
            <a:ext cx="4392403" cy="58567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731341"/>
            <a:ext cx="6296860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Локальные модели искусственного интеллекта</a:t>
            </a:r>
            <a:endParaRPr lang="en-US" sz="3500" dirty="0"/>
          </a:p>
        </p:txBody>
      </p:sp>
      <p:sp>
        <p:nvSpPr>
          <p:cNvPr id="5" name="Shape 2"/>
          <p:cNvSpPr/>
          <p:nvPr/>
        </p:nvSpPr>
        <p:spPr>
          <a:xfrm>
            <a:off x="661475" y="2109589"/>
            <a:ext cx="6296860" cy="4017070"/>
          </a:xfrm>
          <a:prstGeom prst="roundRect">
            <a:avLst>
              <a:gd name="adj" fmla="val 1877"/>
            </a:avLst>
          </a:prstGeom>
          <a:solidFill>
            <a:srgbClr val="DFF6D5"/>
          </a:solidFill>
          <a:ln w="6350">
            <a:solidFill>
              <a:srgbClr val="C5DCB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825" y="2115939"/>
            <a:ext cx="3142080" cy="2702421"/>
          </a:xfrm>
          <a:custGeom>
            <a:avLst/>
            <a:gdLst/>
            <a:ahLst/>
            <a:cxnLst/>
            <a:rect l="l" t="t" r="r" b="b"/>
            <a:pathLst>
              <a:path w="3142080" h="2702421">
                <a:moveTo>
                  <a:pt x="62849" y="0"/>
                </a:moveTo>
                <a:lnTo>
                  <a:pt x="3142080" y="0"/>
                </a:lnTo>
                <a:lnTo>
                  <a:pt x="3142080" y="2702421"/>
                </a:lnTo>
                <a:lnTo>
                  <a:pt x="0" y="2702421"/>
                </a:lnTo>
                <a:lnTo>
                  <a:pt x="0" y="62850"/>
                </a:lnTo>
                <a:arcTo wR="62849" hR="62850" stAng="10800000" swAng="5400000"/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7" name="Text 4"/>
          <p:cNvSpPr/>
          <p:nvPr/>
        </p:nvSpPr>
        <p:spPr>
          <a:xfrm>
            <a:off x="847307" y="2295426"/>
            <a:ext cx="27831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Зачем нужны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47307" y="2678212"/>
            <a:ext cx="2783116" cy="19606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Запускаются на вашем компьютере или сервере организации без передачи данных внешним сервисам. Критично для закрытого кода и конфиденциальной информации.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09905" y="2115939"/>
            <a:ext cx="3142080" cy="2702421"/>
          </a:xfrm>
          <a:custGeom>
            <a:avLst/>
            <a:gdLst/>
            <a:ahLst/>
            <a:cxnLst/>
            <a:rect l="l" t="t" r="r" b="b"/>
            <a:pathLst>
              <a:path w="3142080" h="2702421">
                <a:moveTo>
                  <a:pt x="0" y="0"/>
                </a:moveTo>
                <a:lnTo>
                  <a:pt x="3079231" y="0"/>
                </a:lnTo>
                <a:arcTo wR="62849" hR="62850" stAng="16200000" swAng="5400000"/>
                <a:lnTo>
                  <a:pt x="3142080" y="2702421"/>
                </a:lnTo>
                <a:lnTo>
                  <a:pt x="0" y="2702421"/>
                </a:lnTo>
                <a:lnTo>
                  <a:pt x="0" y="0"/>
                </a:lnTo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10" name="Shape 7"/>
          <p:cNvSpPr/>
          <p:nvPr/>
        </p:nvSpPr>
        <p:spPr>
          <a:xfrm>
            <a:off x="3809905" y="2115939"/>
            <a:ext cx="25399" cy="2702421"/>
          </a:xfrm>
          <a:prstGeom prst="roundRect">
            <a:avLst>
              <a:gd name="adj" fmla="val 50001"/>
            </a:avLst>
          </a:prstGeom>
          <a:solidFill>
            <a:srgbClr val="C5DCBB"/>
          </a:solidFill>
          <a:ln/>
        </p:spPr>
      </p:sp>
      <p:sp>
        <p:nvSpPr>
          <p:cNvPr id="11" name="Text 8"/>
          <p:cNvSpPr/>
          <p:nvPr/>
        </p:nvSpPr>
        <p:spPr>
          <a:xfrm>
            <a:off x="3989387" y="2295426"/>
            <a:ext cx="278311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Компромисс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3989387" y="2678212"/>
            <a:ext cx="2783116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Требуют вычислительных ресурсов. Качество зависит от размера модели и оборудования.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67825" y="4818360"/>
            <a:ext cx="6284160" cy="1301948"/>
          </a:xfrm>
          <a:custGeom>
            <a:avLst/>
            <a:gdLst/>
            <a:ahLst/>
            <a:cxnLst/>
            <a:rect l="l" t="t" r="r" b="b"/>
            <a:pathLst>
              <a:path w="6284160" h="1301948">
                <a:moveTo>
                  <a:pt x="0" y="0"/>
                </a:moveTo>
                <a:lnTo>
                  <a:pt x="6284160" y="0"/>
                </a:lnTo>
                <a:lnTo>
                  <a:pt x="6284160" y="1239098"/>
                </a:lnTo>
                <a:arcTo wR="62849" hR="62850" stAng="0" swAng="5400000"/>
                <a:lnTo>
                  <a:pt x="62849" y="1301948"/>
                </a:lnTo>
                <a:arcTo wR="62849" hR="62850" stAng="5400000" swAng="5400000"/>
                <a:lnTo>
                  <a:pt x="0" y="0"/>
                </a:lnTo>
                <a:close/>
              </a:path>
            </a:pathLst>
          </a:custGeom>
          <a:solidFill>
            <a:srgbClr val="DFF6D5"/>
          </a:solidFill>
          <a:ln/>
        </p:spPr>
      </p:sp>
      <p:sp>
        <p:nvSpPr>
          <p:cNvPr id="14" name="Shape 11"/>
          <p:cNvSpPr/>
          <p:nvPr/>
        </p:nvSpPr>
        <p:spPr>
          <a:xfrm>
            <a:off x="667825" y="4818360"/>
            <a:ext cx="6284160" cy="25400"/>
          </a:xfrm>
          <a:prstGeom prst="roundRect">
            <a:avLst>
              <a:gd name="adj" fmla="val 49999"/>
            </a:avLst>
          </a:prstGeom>
          <a:solidFill>
            <a:srgbClr val="C5DCBB"/>
          </a:solidFill>
          <a:ln/>
        </p:spPr>
      </p:sp>
      <p:sp>
        <p:nvSpPr>
          <p:cNvPr id="15" name="Text 12"/>
          <p:cNvSpPr/>
          <p:nvPr/>
        </p:nvSpPr>
        <p:spPr>
          <a:xfrm>
            <a:off x="847307" y="4997847"/>
            <a:ext cx="5925196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Баланс выбора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847307" y="5380633"/>
            <a:ext cx="5925196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Качество, скорость, стоимость и безопасность — четыре параметра, которые всегда в противоречии.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96851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Семейства локальных моделей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59980"/>
            <a:ext cx="690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Популярные семейства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544266"/>
            <a:ext cx="6903269" cy="1852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Llama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широкое распространение благодаря локальному запуску и развитой экосистеме инструментов.</a:t>
            </a:r>
            <a:endParaRPr lang="en-US" sz="1450" dirty="0"/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4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Mistral</a:t>
            </a: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эффективное соотношение качества и потребляемых ресурсов.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Для разработки особенно интересны модели, обученные работать с кодом — они лучше понимают структуру программ.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4609108"/>
            <a:ext cx="6903269" cy="1039416"/>
          </a:xfrm>
          <a:prstGeom prst="roundRect">
            <a:avLst>
              <a:gd name="adj" fmla="val 7638"/>
            </a:avLst>
          </a:prstGeom>
          <a:solidFill>
            <a:srgbClr val="DFF6D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482" y="4889500"/>
            <a:ext cx="236234" cy="1890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5723" y="4826397"/>
            <a:ext cx="610001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Иногда небольшая специализированная модель быстрее справляется с конкретной задачей, чем большая универсальная.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2251" y="2113855"/>
            <a:ext cx="3504219" cy="35043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781076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Протоколы взаимодействия AI-систем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749748"/>
            <a:ext cx="472468" cy="472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Что такое протокол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Единый стандартизированный способ подключения моделей к внешним данным: документации, файлам проекта, базам данных.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749748"/>
            <a:ext cx="472468" cy="472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Model Context Protocol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Современный пример протокола, организующего взаимодействие между AI и внешними источниками контекста.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749748"/>
            <a:ext cx="472468" cy="472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458468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Роль в инфраструктуре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867150"/>
            <a:ext cx="3465426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Протоколы становятся связующим уровнем между искусственным интеллектом и вашей инфраструктурой.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DFF6D5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0075" y="488057"/>
            <a:ext cx="4411254" cy="58818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30634"/>
            <a:ext cx="6296860" cy="100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b="1" dirty="0">
                <a:solidFill>
                  <a:srgbClr val="0C0C0C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Как выбирать AI-инструмент для разработки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1839516"/>
            <a:ext cx="6906444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Начните не с вопроса «какой самый мощный», а с «какую задачу решаем».</a:t>
            </a:r>
            <a:endParaRPr lang="en-US" sz="12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230834"/>
            <a:ext cx="803255" cy="96400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1251" y="2391470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Повседневные операции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601251" y="2724348"/>
            <a:ext cx="5357083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Ассистент в редакторе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75" y="3194844"/>
            <a:ext cx="803255" cy="96400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01251" y="3355479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Анализ сложного кода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1601251" y="3688358"/>
            <a:ext cx="5357083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Инструмент с большим контекстом</a:t>
            </a:r>
            <a:endParaRPr lang="en-US" sz="12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5" y="4158853"/>
            <a:ext cx="803255" cy="96400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601251" y="4319488"/>
            <a:ext cx="5357083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Автоматизация</a:t>
            </a:r>
            <a:endParaRPr lang="en-US" sz="1550" dirty="0"/>
          </a:p>
        </p:txBody>
      </p:sp>
      <p:sp>
        <p:nvSpPr>
          <p:cNvPr id="14" name="Text 8"/>
          <p:cNvSpPr/>
          <p:nvPr/>
        </p:nvSpPr>
        <p:spPr>
          <a:xfrm>
            <a:off x="1601251" y="4652367"/>
            <a:ext cx="5357083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Агентные системы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661475" y="5276453"/>
            <a:ext cx="6296860" cy="950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Учитывайте безопасность данных, влияние на весь процесс разработки и реальное сокращение времени. </a:t>
            </a:r>
            <a:r>
              <a:rPr lang="en-US" sz="1250" b="1" dirty="0">
                <a:solidFill>
                  <a:srgbClr val="000000"/>
                </a:solidFill>
                <a:latin typeface="Nunito Sans Bold" pitchFamily="34" charset="0"/>
                <a:ea typeface="Nunito Sans Bold" pitchFamily="34" charset="-122"/>
                <a:cs typeface="Nunito Sans Bold" pitchFamily="34" charset="-120"/>
              </a:rPr>
              <a:t>ИИ — это новый уровень инструментов, не замена программисту.</a:t>
            </a:r>
            <a:r>
              <a:rPr lang="en-US" sz="125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Чем лучше вы понимаете возможности разных подходов, тем эффективнее их используете.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634</Words>
  <Application>Microsoft Office PowerPoint</Application>
  <PresentationFormat>Широкоэкранный</PresentationFormat>
  <Paragraphs>73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Nunito Sans</vt:lpstr>
      <vt:lpstr>Arial</vt:lpstr>
      <vt:lpstr>Nunito Sans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Ефимов Матвей Александрович</cp:lastModifiedBy>
  <cp:revision>2</cp:revision>
  <dcterms:created xsi:type="dcterms:W3CDTF">2026-09-20T13:33:04Z</dcterms:created>
  <dcterms:modified xsi:type="dcterms:W3CDTF">2026-09-20T13:33:33Z</dcterms:modified>
</cp:coreProperties>
</file>