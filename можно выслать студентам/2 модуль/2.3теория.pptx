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Nunito Sans" pitchFamily="2" charset="-52"/>
      <p:regular r:id="rId13"/>
      <p:italic r:id="rId14"/>
    </p:embeddedFont>
    <p:embeddedFont>
      <p:font typeface="Nunito Sans Bold" charset="-52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5964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95894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Зачем агенту нужен проектный манифест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423716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Когда в проекте работают разные агенты, каждый раз объяснять им правила неудобно и рискованно. Инструкции могут расходиться, забываться или формулироваться по-разному.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25350" y="3543598"/>
            <a:ext cx="3190101" cy="2355453"/>
          </a:xfrm>
          <a:prstGeom prst="roundRect">
            <a:avLst>
              <a:gd name="adj" fmla="val 5778"/>
            </a:avLst>
          </a:prstGeom>
          <a:solidFill>
            <a:srgbClr val="061B40"/>
          </a:solidFill>
          <a:ln/>
        </p:spPr>
      </p:sp>
      <p:sp>
        <p:nvSpPr>
          <p:cNvPr id="7" name="Text 4"/>
          <p:cNvSpPr/>
          <p:nvPr/>
        </p:nvSpPr>
        <p:spPr>
          <a:xfrm>
            <a:off x="714357" y="3732609"/>
            <a:ext cx="281208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Проблема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714357" y="4216896"/>
            <a:ext cx="281208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Повторяющиеся, противоречивые и забытые инструкции для каждого агента.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046833" y="3732609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Решение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046833" y="4216896"/>
            <a:ext cx="2917851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9F42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Постоянный контекст проекта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который автоматически загружается для каждого агента — единообразие правил без повторений.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9820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Инициализация агента и начальный контекст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2326878"/>
            <a:ext cx="5780637" cy="1834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Агент не должен угадывать устройство проекта. Ему нужна исходная информация о том, с какой средой он работает, какие соглашения действуют и что считается допустимым.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 Hermes проектный контекст загружается в </a:t>
            </a: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системную часть запроса</a:t>
            </a: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при старте — это принципиально отличается от обычного сообщения.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1475" y="4352826"/>
            <a:ext cx="5780637" cy="956866"/>
          </a:xfrm>
          <a:prstGeom prst="roundRect">
            <a:avLst>
              <a:gd name="adj" fmla="val 7882"/>
            </a:avLst>
          </a:prstGeom>
          <a:solidFill>
            <a:srgbClr val="DFF6D5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957" y="4608016"/>
            <a:ext cx="224427" cy="1794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44867" y="4551164"/>
            <a:ext cx="5017764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Контекст сопровождает всю работу агента, а не относится к одной задаче.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2883" y="1628775"/>
            <a:ext cx="4417307" cy="44174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74424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Что такое AGENTS.md в Hermes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2209006"/>
            <a:ext cx="3053877" cy="2311499"/>
          </a:xfrm>
          <a:prstGeom prst="roundRect">
            <a:avLst>
              <a:gd name="adj" fmla="val 3434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28717" y="2404368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Формат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28717" y="2813050"/>
            <a:ext cx="2663163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Обычный Markdown-документ с инструкциями на естественном языке. Не исполняемый конфиг — описание проекта.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476244" y="2209006"/>
            <a:ext cx="3053976" cy="2311499"/>
          </a:xfrm>
          <a:prstGeom prst="roundRect">
            <a:avLst>
              <a:gd name="adj" fmla="val 3434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71601" y="2404368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Содержимое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671601" y="2813050"/>
            <a:ext cx="2663262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Назначение проекта, архитектура, соглашения по коду, команды проверки, важные каталоги и ограничения.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233360" y="4709517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28717" y="4904879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Автозагрузка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428717" y="5313561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Hermes обнаруживает файл автоматически и добавляет его в контекст агента при каждом запуске.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9820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Цель агента и цель проекта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756" y="1628775"/>
            <a:ext cx="4417307" cy="44174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55833" y="2311598"/>
            <a:ext cx="5780637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Важно разделять </a:t>
            </a: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постоянную роль</a:t>
            </a: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и </a:t>
            </a: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конкретную задачу</a:t>
            </a: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текущего запуска.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55833" y="3063677"/>
            <a:ext cx="2805042" cy="226129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62312" y="3268563"/>
            <a:ext cx="229368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Постоянная роль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6062312" y="3719612"/>
            <a:ext cx="2293682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Reviewer всегда проверяет изменения — это фиксируется в AGENTS.md как устойчивое правило.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31428" y="3063677"/>
            <a:ext cx="2805042" cy="226129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037907" y="3268563"/>
            <a:ext cx="229368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Текущая задача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9037907" y="3719612"/>
            <a:ext cx="2293682" cy="1400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Сегодня — миграция Pydantic, завтра — обновление API. Детали относятся к конкретному заданию.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4947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Роль агента и границы ответственности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18147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Роль определяет, за какую часть процесса агент несёт ответственность. Это не просто название — это </a:t>
            </a:r>
            <a:r>
              <a:rPr lang="en-US" sz="1450" b="1" dirty="0">
                <a:solidFill>
                  <a:srgbClr val="409F42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конкретные границы допустимого поведения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135610"/>
            <a:ext cx="10868745" cy="1404243"/>
          </a:xfrm>
          <a:prstGeom prst="roundRect">
            <a:avLst>
              <a:gd name="adj" fmla="val 5653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825" y="3141960"/>
            <a:ext cx="5428023" cy="1391543"/>
          </a:xfrm>
          <a:custGeom>
            <a:avLst/>
            <a:gdLst/>
            <a:ahLst/>
            <a:cxnLst/>
            <a:rect l="l" t="t" r="r" b="b"/>
            <a:pathLst>
              <a:path w="5428023" h="1391543">
                <a:moveTo>
                  <a:pt x="66156" y="0"/>
                </a:moveTo>
                <a:lnTo>
                  <a:pt x="5428023" y="0"/>
                </a:lnTo>
                <a:lnTo>
                  <a:pt x="5428023" y="1391543"/>
                </a:lnTo>
                <a:lnTo>
                  <a:pt x="66156" y="1391543"/>
                </a:lnTo>
                <a:arcTo wR="66156" hR="66158" stAng="5400000" swAng="5400000"/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DFF6D5"/>
          </a:solidFill>
          <a:ln/>
        </p:spPr>
      </p:sp>
      <p:sp>
        <p:nvSpPr>
          <p:cNvPr id="6" name="Text 4"/>
          <p:cNvSpPr/>
          <p:nvPr/>
        </p:nvSpPr>
        <p:spPr>
          <a:xfrm>
            <a:off x="856832" y="3330972"/>
            <a:ext cx="476654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Reviewer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56832" y="3739654"/>
            <a:ext cx="476654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Читает файлы и запускает тесты — но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не меняет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production-код.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095848" y="3141960"/>
            <a:ext cx="5428023" cy="1391543"/>
          </a:xfrm>
          <a:custGeom>
            <a:avLst/>
            <a:gdLst/>
            <a:ahLst/>
            <a:cxnLst/>
            <a:rect l="l" t="t" r="r" b="b"/>
            <a:pathLst>
              <a:path w="5428023" h="1391543">
                <a:moveTo>
                  <a:pt x="0" y="0"/>
                </a:moveTo>
                <a:lnTo>
                  <a:pt x="5361866" y="0"/>
                </a:lnTo>
                <a:arcTo wR="66156" hR="66158" stAng="16200000" swAng="5400000"/>
                <a:lnTo>
                  <a:pt x="5428023" y="1325385"/>
                </a:lnTo>
                <a:arcTo wR="66156" hR="66158" stAng="0" swAng="5400000"/>
                <a:lnTo>
                  <a:pt x="0" y="1391543"/>
                </a:lnTo>
                <a:lnTo>
                  <a:pt x="0" y="0"/>
                </a:lnTo>
                <a:close/>
              </a:path>
            </a:pathLst>
          </a:custGeom>
          <a:solidFill>
            <a:srgbClr val="DFF6D5"/>
          </a:solidFill>
          <a:ln/>
        </p:spPr>
      </p:sp>
      <p:sp>
        <p:nvSpPr>
          <p:cNvPr id="9" name="Shape 7"/>
          <p:cNvSpPr/>
          <p:nvPr/>
        </p:nvSpPr>
        <p:spPr>
          <a:xfrm>
            <a:off x="6095848" y="3141960"/>
            <a:ext cx="25399" cy="1391543"/>
          </a:xfrm>
          <a:prstGeom prst="roundRect">
            <a:avLst>
              <a:gd name="adj" fmla="val 50001"/>
            </a:avLst>
          </a:prstGeom>
          <a:solidFill>
            <a:srgbClr val="C5DCBB"/>
          </a:solidFill>
          <a:ln/>
        </p:spPr>
      </p:sp>
      <p:sp>
        <p:nvSpPr>
          <p:cNvPr id="10" name="Text 8"/>
          <p:cNvSpPr/>
          <p:nvPr/>
        </p:nvSpPr>
        <p:spPr>
          <a:xfrm>
            <a:off x="6568315" y="3330972"/>
            <a:ext cx="476654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Migrator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568315" y="3739654"/>
            <a:ext cx="476654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Меняет исходный код — но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не трогает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конфигурацию production.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752479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DFF6D5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5020171"/>
            <a:ext cx="236234" cy="18901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75723" y="4988719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Хорошая роль — это чёткие рамки, а не красивое название.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859614" y="3601442"/>
            <a:ext cx="472468" cy="472480"/>
          </a:xfrm>
          <a:prstGeom prst="roundRect">
            <a:avLst>
              <a:gd name="adj" fmla="val 16803"/>
            </a:avLst>
          </a:prstGeom>
          <a:solidFill>
            <a:srgbClr val="FFFFFF"/>
          </a:solidFill>
          <a:ln w="25399">
            <a:solidFill>
              <a:srgbClr val="C5DCBB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77681" y="3719513"/>
            <a:ext cx="236234" cy="236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2986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Навыки агента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674045"/>
            <a:ext cx="5203794" cy="1984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Навык описывает, что агент должен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уметь делать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для выполнения своей роли. Это интеллектуальная способность, а не техническая возможность.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Навыки работают вместе с инструментами — без доступа к файлам агент не сможет полноценно анализировать проект.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2776" y="2716609"/>
            <a:ext cx="472468" cy="472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41478" y="2716609"/>
            <a:ext cx="17750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Reviewer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7041478" y="3200896"/>
            <a:ext cx="1775078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Анализирует Git diff, читает тесты, проверяет совместимость.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52790" y="2716609"/>
            <a:ext cx="472468" cy="472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761492" y="2716609"/>
            <a:ext cx="17750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Migrator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9761492" y="3200896"/>
            <a:ext cx="177507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Понимает конфигурацию зависимостей, находит устаревший API, адаптирует код.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10658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Инструменты агента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1980704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Инструмент — это техническая возможность взаимодействовать с окружением. В Hermes это работа с файлами, терминалом, поиском по проекту.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25350" y="3100586"/>
            <a:ext cx="3190101" cy="2650728"/>
          </a:xfrm>
          <a:prstGeom prst="roundRect">
            <a:avLst>
              <a:gd name="adj" fmla="val 5134"/>
            </a:avLst>
          </a:prstGeom>
          <a:solidFill>
            <a:srgbClr val="061B40"/>
          </a:solidFill>
          <a:ln/>
        </p:spPr>
      </p:sp>
      <p:sp>
        <p:nvSpPr>
          <p:cNvPr id="7" name="Text 4"/>
          <p:cNvSpPr/>
          <p:nvPr/>
        </p:nvSpPr>
        <p:spPr>
          <a:xfrm>
            <a:off x="714357" y="3289598"/>
            <a:ext cx="281208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Инструкция в AGENTS.md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714357" y="4069159"/>
            <a:ext cx="281208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Помогает модели принимать правильные решения — это </a:t>
            </a:r>
            <a:r>
              <a:rPr lang="en-US" sz="1450" b="1" dirty="0">
                <a:solidFill>
                  <a:srgbClr val="FFFFFF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правило поведения</a:t>
            </a:r>
            <a:r>
              <a:rPr lang="en-US" sz="1450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046833" y="3289598"/>
            <a:ext cx="291785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Техническое ограничение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046833" y="4069159"/>
            <a:ext cx="2917851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Обеспечивает дополнительную границу. Если написано «не меняй production» — лучше ещё и </a:t>
            </a:r>
            <a:r>
              <a:rPr lang="en-US" sz="1450" b="1" dirty="0">
                <a:solidFill>
                  <a:srgbClr val="409F42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технически ограничить доступ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3172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Лимиты и ограничения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105" y="1473597"/>
            <a:ext cx="3974008" cy="39741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35097" y="2923778"/>
            <a:ext cx="5801374" cy="1073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spcAft>
                <a:spcPts val="95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Хороший манифест определяется не столько тем, что </a:t>
            </a:r>
            <a:r>
              <a:rPr lang="en-US" sz="1250" i="1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разрешено</a:t>
            </a: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сколько тем, что </a:t>
            </a:r>
            <a:r>
              <a:rPr lang="en-US" sz="12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запрещено</a:t>
            </a: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2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Ограничения защищают от чрезмерной инициативы агента и удерживают выполнение внутри понятной области ответственности.</a:t>
            </a:r>
            <a:endParaRPr lang="en-US" sz="12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1699" y="5762774"/>
            <a:ext cx="240996" cy="24100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3551" y="5754886"/>
            <a:ext cx="2987005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✅ Обновление зависимостей — ❌ изменение схемы БД</a:t>
            </a:r>
            <a:endParaRPr lang="en-US" sz="12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01432" y="5762774"/>
            <a:ext cx="240996" cy="24100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863284" y="5754886"/>
            <a:ext cx="2987104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✅ Запуск тестов — ❌ отправка в репозиторий</a:t>
            </a:r>
            <a:endParaRPr lang="en-US" sz="12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81264" y="5762774"/>
            <a:ext cx="240996" cy="24100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543116" y="5754886"/>
            <a:ext cx="2987005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✅ Изменение кода — ❌ работа с секретами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1272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Правила безопасности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426369"/>
            <a:ext cx="10868745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Опасность часто возникает из </a:t>
            </a:r>
            <a:r>
              <a:rPr lang="en-US" sz="12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комбинации нескольких нормальных действий</a:t>
            </a: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 Агент умеет читать файлы, выполнять команды, работать с Git — каждое полезно, но вместе они позволяют существенно воздействовать на проект.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61475" y="2055416"/>
            <a:ext cx="5366112" cy="1523107"/>
          </a:xfrm>
          <a:prstGeom prst="roundRect">
            <a:avLst>
              <a:gd name="adj" fmla="val 4430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8456" y="2222401"/>
            <a:ext cx="481993" cy="482005"/>
          </a:xfrm>
          <a:prstGeom prst="ellipse">
            <a:avLst/>
          </a:prstGeom>
          <a:solidFill>
            <a:srgbClr val="7DDB5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1009" y="2354957"/>
            <a:ext cx="216887" cy="2168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8456" y="2840930"/>
            <a:ext cx="503215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Секреты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8456" y="3173809"/>
            <a:ext cx="503215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Токены, пароли, ключи API — вне зоны доступа агента.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64108" y="2055416"/>
            <a:ext cx="5366112" cy="1523107"/>
          </a:xfrm>
          <a:prstGeom prst="roundRect">
            <a:avLst>
              <a:gd name="adj" fmla="val 4430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31089" y="2222401"/>
            <a:ext cx="481993" cy="482005"/>
          </a:xfrm>
          <a:prstGeom prst="ellipse">
            <a:avLst/>
          </a:prstGeom>
          <a:solidFill>
            <a:srgbClr val="7DDB5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63642" y="2354957"/>
            <a:ext cx="216887" cy="2168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31089" y="2840930"/>
            <a:ext cx="503215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Production-конфигурация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331089" y="3173809"/>
            <a:ext cx="503215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Изменения в prod-среде требуют явного разрешения.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61475" y="3715048"/>
            <a:ext cx="5366112" cy="1760835"/>
          </a:xfrm>
          <a:prstGeom prst="roundRect">
            <a:avLst>
              <a:gd name="adj" fmla="val 3832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8456" y="3882033"/>
            <a:ext cx="481993" cy="482005"/>
          </a:xfrm>
          <a:prstGeom prst="ellipse">
            <a:avLst/>
          </a:prstGeom>
          <a:solidFill>
            <a:srgbClr val="7DDB5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1009" y="4014589"/>
            <a:ext cx="216887" cy="2168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8456" y="4500563"/>
            <a:ext cx="503215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Миграции БД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28456" y="4833441"/>
            <a:ext cx="503215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Чувствительная область — должна быть явно обозначена в манифесте.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64108" y="3715048"/>
            <a:ext cx="5366112" cy="1760835"/>
          </a:xfrm>
          <a:prstGeom prst="roundRect">
            <a:avLst>
              <a:gd name="adj" fmla="val 3832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331089" y="3882033"/>
            <a:ext cx="481993" cy="482005"/>
          </a:xfrm>
          <a:prstGeom prst="ellipse">
            <a:avLst/>
          </a:prstGeom>
          <a:solidFill>
            <a:srgbClr val="7DDB51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3642" y="4014589"/>
            <a:ext cx="216887" cy="2168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31089" y="4500563"/>
            <a:ext cx="503215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Инфраструктурные скрипты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331089" y="4833441"/>
            <a:ext cx="503215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Высокий риск — ограничения должны быть частью структуры роли.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661475" y="5629473"/>
            <a:ext cx="10868745" cy="577255"/>
          </a:xfrm>
          <a:prstGeom prst="roundRect">
            <a:avLst>
              <a:gd name="adj" fmla="val 11690"/>
            </a:avLst>
          </a:prstGeom>
          <a:solidFill>
            <a:srgbClr val="DFF6D5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106" y="5824240"/>
            <a:ext cx="200814" cy="16063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83551" y="5806083"/>
            <a:ext cx="1079562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Безопасность должна быть частью структуры роли, а не финальным пунктом.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0048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AGENTS.md как иерархия правил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69158"/>
            <a:ext cx="10868745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 больших репозиториях AGENTS.md может существовать не только в корне. Hermes загружает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цепочку файлов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от корня к рабочему каталогу.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Более глубокие инструкции уточняют правила конкретной части кодовой базы — это позволяет избежать одного огромного универсального манифеста.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4343896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Корневой файл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4752578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Общие правила для всего репозитория.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363135" y="4343896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Подкаталог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4363135" y="4752578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Специфичные инструкции для модуля или сервиса.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64794" y="4343896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Глубокий каталог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8064794" y="4752578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Точные правила для конкретного компонента кодовой базы.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36075" y="4104084"/>
            <a:ext cx="3516225" cy="50800"/>
          </a:xfrm>
          <a:prstGeom prst="rect">
            <a:avLst/>
          </a:prstGeom>
          <a:solidFill>
            <a:srgbClr val="7DDB51"/>
          </a:solidFill>
          <a:ln/>
        </p:spPr>
      </p:sp>
      <p:sp>
        <p:nvSpPr>
          <p:cNvPr id="11" name="Shape 9"/>
          <p:cNvSpPr/>
          <p:nvPr/>
        </p:nvSpPr>
        <p:spPr>
          <a:xfrm>
            <a:off x="4337735" y="4104084"/>
            <a:ext cx="3516225" cy="50800"/>
          </a:xfrm>
          <a:prstGeom prst="rect">
            <a:avLst/>
          </a:prstGeom>
          <a:solidFill>
            <a:srgbClr val="7DDB51"/>
          </a:solidFill>
          <a:ln/>
        </p:spPr>
      </p:sp>
      <p:sp>
        <p:nvSpPr>
          <p:cNvPr id="12" name="Shape 10"/>
          <p:cNvSpPr/>
          <p:nvPr/>
        </p:nvSpPr>
        <p:spPr>
          <a:xfrm>
            <a:off x="8039395" y="4104084"/>
            <a:ext cx="3516225" cy="50800"/>
          </a:xfrm>
          <a:prstGeom prst="rect">
            <a:avLst/>
          </a:prstGeom>
          <a:solidFill>
            <a:srgbClr val="7DDB5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647</Words>
  <Application>Microsoft Office PowerPoint</Application>
  <PresentationFormat>Широкоэкранный</PresentationFormat>
  <Paragraphs>79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Nunito Sans</vt:lpstr>
      <vt:lpstr>Nunito Sans Bold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2026-09-20T18:30:25Z</dcterms:created>
  <dcterms:modified xsi:type="dcterms:W3CDTF">2026-09-20T20:07:14Z</dcterms:modified>
</cp:coreProperties>
</file>