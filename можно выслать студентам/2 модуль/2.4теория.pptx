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unito Sans" pitchFamily="2" charset="-52"/>
      <p:regular r:id="rId13"/>
    </p:embeddedFont>
    <p:embeddedFont>
      <p:font typeface="Nunito Sans Bold" charset="-52"/>
      <p:regular r:id="rId14"/>
    </p:embeddedFont>
    <p:embeddedFont>
      <p:font typeface="Nunito Sans Light" pitchFamily="2" charset="-52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9108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16562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Контекстное окно как рабочая область агента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800449"/>
            <a:ext cx="2917851" cy="2419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Модель работает только с информацией в текущем контекстном окне — это как рабочий стол разработчика. На диске может быть огромный проект, но для решения задачи нужна только релевантная информация.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046833" y="2800449"/>
            <a:ext cx="2917851" cy="2721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 контекст попадает не только ваше сообщение: там уже системные инструкции, проектный контекст, история диалога, результаты действий и описания инструментов. Заявленный размер окна — это не объём, полностью доступный для вашего кода.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Токены и реальная стоимость контекста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226370"/>
            <a:ext cx="6903269" cy="228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Контекст измеряется в токенах — внутренних единицах текста для модели. Каждый переданный файл занимает токены, и входной контекст конкурирует за место с результатом, который должна сгенерировать модель.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Инфраструктура агента тоже требует места: подключение инструментов увеличивает объём схем. Контекст — это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ограниченный ресурс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которым нужно управлять, а не заполнять его полностью.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4725988"/>
            <a:ext cx="6903269" cy="736997"/>
          </a:xfrm>
          <a:prstGeom prst="roundRect">
            <a:avLst>
              <a:gd name="adj" fmla="val 10772"/>
            </a:avLst>
          </a:prstGeom>
          <a:solidFill>
            <a:srgbClr val="DFF6D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5006380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4943277"/>
            <a:ext cx="670959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Токены ≠ символы. Одно слово может занимать несколько токенов.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99625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Контекст и память — это не одно и то же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461022"/>
            <a:ext cx="6296860" cy="3400623"/>
          </a:xfrm>
          <a:prstGeom prst="roundRect">
            <a:avLst>
              <a:gd name="adj" fmla="val 2335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239710" y="2467372"/>
            <a:ext cx="6284160" cy="1693962"/>
          </a:xfrm>
          <a:custGeom>
            <a:avLst/>
            <a:gdLst/>
            <a:ahLst/>
            <a:cxnLst/>
            <a:rect l="l" t="t" r="r" b="b"/>
            <a:pathLst>
              <a:path w="6284160" h="1693962">
                <a:moveTo>
                  <a:pt x="66156" y="0"/>
                </a:moveTo>
                <a:lnTo>
                  <a:pt x="6218004" y="0"/>
                </a:lnTo>
                <a:arcTo wR="66156" hR="66158" stAng="16200000" swAng="5400000"/>
                <a:lnTo>
                  <a:pt x="6284160" y="1693962"/>
                </a:lnTo>
                <a:lnTo>
                  <a:pt x="0" y="1693962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7" name="Text 4"/>
          <p:cNvSpPr/>
          <p:nvPr/>
        </p:nvSpPr>
        <p:spPr>
          <a:xfrm>
            <a:off x="5428717" y="2656384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Контекст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428717" y="3065066"/>
            <a:ext cx="59061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Информация, доступная модели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прямо сейчас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В текущей сессии предыдущие сообщения находятся здесь — живут только пока открыт диалог.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239710" y="4161334"/>
            <a:ext cx="6284160" cy="1693962"/>
          </a:xfrm>
          <a:custGeom>
            <a:avLst/>
            <a:gdLst/>
            <a:ahLst/>
            <a:cxnLst/>
            <a:rect l="l" t="t" r="r" b="b"/>
            <a:pathLst>
              <a:path w="6284160" h="1693962">
                <a:moveTo>
                  <a:pt x="0" y="0"/>
                </a:moveTo>
                <a:lnTo>
                  <a:pt x="6284160" y="0"/>
                </a:lnTo>
                <a:lnTo>
                  <a:pt x="6284160" y="1627804"/>
                </a:lnTo>
                <a:arcTo wR="66156" hR="66158" stAng="0" swAng="5400000"/>
                <a:lnTo>
                  <a:pt x="66156" y="1693962"/>
                </a:lnTo>
                <a:arcTo wR="66156" hR="66158" stAng="5400000" swAng="5400000"/>
                <a:lnTo>
                  <a:pt x="0" y="0"/>
                </a:lnTo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10" name="Shape 7"/>
          <p:cNvSpPr/>
          <p:nvPr/>
        </p:nvSpPr>
        <p:spPr>
          <a:xfrm>
            <a:off x="5239710" y="4161334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5DCBB"/>
          </a:solidFill>
          <a:ln/>
        </p:spPr>
      </p:sp>
      <p:sp>
        <p:nvSpPr>
          <p:cNvPr id="11" name="Text 8"/>
          <p:cNvSpPr/>
          <p:nvPr/>
        </p:nvSpPr>
        <p:spPr>
          <a:xfrm>
            <a:off x="5428717" y="4350345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Память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8717" y="4759027"/>
            <a:ext cx="59061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Механизм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сохранения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информации для использования позже или в другой сессии. Специально ограничена по объёму — не предназначена для хранения тысяч файлов.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1122"/>
            <a:ext cx="10868745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Почему нельзя просто сделать один бесконечный диалог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7574" y="2729111"/>
            <a:ext cx="4395281" cy="2608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86749" y="4732677"/>
            <a:ext cx="1092558" cy="210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Перегрузка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3609826" y="4732677"/>
            <a:ext cx="1092559" cy="210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Сжатие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210453" y="4732677"/>
            <a:ext cx="1092558" cy="210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Накопление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987207" y="2052836"/>
            <a:ext cx="3549264" cy="2262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Длинную сессию технически поддерживать можно, но постепенно она становится тяжелее: накапливаются старые сообщения, промежуточные результаты и решения давно закончившихся задач.</a:t>
            </a:r>
            <a:endParaRPr lang="en-US" sz="12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Агент использует компрессию контекста, когда разговор приближается к лимиту. Но это не магическое расширение окна — часть подробностей приходится сворачивать.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987207" y="4468813"/>
            <a:ext cx="3549264" cy="1514475"/>
          </a:xfrm>
          <a:prstGeom prst="roundRect">
            <a:avLst>
              <a:gd name="adj" fmla="val 4456"/>
            </a:avLst>
          </a:prstGeom>
          <a:solidFill>
            <a:srgbClr val="DFF6D5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838" y="4676279"/>
            <a:ext cx="200814" cy="1606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09283" y="4631730"/>
            <a:ext cx="2866556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Правильная стратегия: постоянные правила — в проектном контексте, важные сведения — в памяти, конкретные материалы подбираются перед задачей.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38" y="127496"/>
            <a:ext cx="4401829" cy="66029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28154"/>
            <a:ext cx="629686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Long-context стратегия</a:t>
            </a:r>
            <a:endParaRPr lang="en-US" sz="3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389360"/>
            <a:ext cx="6296860" cy="151139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26779" y="1578471"/>
            <a:ext cx="58424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Большое окно ≠ нужно заполнять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926779" y="1935956"/>
            <a:ext cx="5842449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Модели с большим контекстным окном могут принять огромный объём информации за один запрос. Но это не значит, что его нужно полностью заполнять.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053854"/>
            <a:ext cx="6296860" cy="151139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26779" y="3242965"/>
            <a:ext cx="58424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Нерелевантный материал — это шум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926779" y="3600450"/>
            <a:ext cx="5842449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Передавать все семь тысяч файлов проекта ради поиска нескольких релевантных мест нерационально. Растёт стоимость, время запроса и снижается качество ответа.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718348"/>
            <a:ext cx="6296860" cy="151139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26779" y="4907459"/>
            <a:ext cx="58424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Когда long-context оправдан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926779" y="5264944"/>
            <a:ext cx="5842449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Long-context работает, когда большой объём действительно нужно анализировать совместно — например, рефакторинг всего модуля целиком.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Chunking — разделение большой базы знаний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26370"/>
            <a:ext cx="6903269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Информацию разделяют на части (chunks) вместо передачи целого документа. Простой вариант — разрезание по количеству символов, но для кода это не всегда удачно.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Функция может начаться в одном chunk и завершиться в другом, теряя смысл. Лучше учитывать структуру кода: функция, класс, метод или логически связанный участок становятся естественной единицей.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4423569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DFF6D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4703961"/>
            <a:ext cx="236234" cy="189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5723" y="4640858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Хороший chunk достаточно маленький для точного поиска, но содержательный, чтобы модель поняла фрагмент.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251" y="2113855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112" y="132457"/>
            <a:ext cx="4395281" cy="65930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66936"/>
            <a:ext cx="6296860" cy="1104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Векторное представление и векторный индекс</a:t>
            </a:r>
            <a:endParaRPr lang="en-US" sz="3450" dirty="0"/>
          </a:p>
        </p:txBody>
      </p:sp>
      <p:sp>
        <p:nvSpPr>
          <p:cNvPr id="5" name="Text 2"/>
          <p:cNvSpPr/>
          <p:nvPr/>
        </p:nvSpPr>
        <p:spPr>
          <a:xfrm>
            <a:off x="661475" y="1919585"/>
            <a:ext cx="353508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unito Sans Light" pitchFamily="34" charset="0"/>
                <a:ea typeface="Nunito Sans Light" pitchFamily="34" charset="-122"/>
                <a:cs typeface="Nunito Sans Light" pitchFamily="34" charset="-120"/>
              </a:rPr>
              <a:t>01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61475" y="2200870"/>
            <a:ext cx="3065783" cy="19050"/>
          </a:xfrm>
          <a:prstGeom prst="rect">
            <a:avLst/>
          </a:prstGeom>
          <a:solidFill>
            <a:srgbClr val="7DDB51"/>
          </a:solidFill>
          <a:ln/>
        </p:spPr>
      </p:sp>
      <p:sp>
        <p:nvSpPr>
          <p:cNvPr id="7" name="Text 4"/>
          <p:cNvSpPr/>
          <p:nvPr/>
        </p:nvSpPr>
        <p:spPr>
          <a:xfrm>
            <a:off x="661475" y="2327275"/>
            <a:ext cx="3065783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Текст → вектор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61475" y="2702520"/>
            <a:ext cx="3065783" cy="1094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Embedding-модель преобразует содержимое каждого chunk в числовой вектор, отражающий смысловые свойства текста.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892552" y="1919585"/>
            <a:ext cx="353508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unito Sans Light" pitchFamily="34" charset="0"/>
                <a:ea typeface="Nunito Sans Light" pitchFamily="34" charset="-122"/>
                <a:cs typeface="Nunito Sans Light" pitchFamily="34" charset="-120"/>
              </a:rPr>
              <a:t>02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892552" y="2200870"/>
            <a:ext cx="3065783" cy="19050"/>
          </a:xfrm>
          <a:prstGeom prst="rect">
            <a:avLst/>
          </a:prstGeom>
          <a:solidFill>
            <a:srgbClr val="7DDB51"/>
          </a:solidFill>
          <a:ln/>
        </p:spPr>
      </p:sp>
      <p:sp>
        <p:nvSpPr>
          <p:cNvPr id="11" name="Text 8"/>
          <p:cNvSpPr/>
          <p:nvPr/>
        </p:nvSpPr>
        <p:spPr>
          <a:xfrm>
            <a:off x="3892552" y="2327275"/>
            <a:ext cx="3065783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Запрос → вектор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892552" y="2702520"/>
            <a:ext cx="3065783" cy="1094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Запрос пользователя преобразуется аналогично — в тот же числовой формат, что и chunks базы знаний.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61475" y="4094956"/>
            <a:ext cx="353508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unito Sans Light" pitchFamily="34" charset="0"/>
                <a:ea typeface="Nunito Sans Light" pitchFamily="34" charset="-122"/>
                <a:cs typeface="Nunito Sans Light" pitchFamily="34" charset="-120"/>
              </a:rPr>
              <a:t>03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61475" y="4376241"/>
            <a:ext cx="6296860" cy="19050"/>
          </a:xfrm>
          <a:prstGeom prst="rect">
            <a:avLst/>
          </a:prstGeom>
          <a:solidFill>
            <a:srgbClr val="7DDB51"/>
          </a:solidFill>
          <a:ln/>
        </p:spPr>
      </p:sp>
      <p:sp>
        <p:nvSpPr>
          <p:cNvPr id="15" name="Text 12"/>
          <p:cNvSpPr/>
          <p:nvPr/>
        </p:nvSpPr>
        <p:spPr>
          <a:xfrm>
            <a:off x="661475" y="4502646"/>
            <a:ext cx="6296860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Сравнение и выбор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61475" y="4877891"/>
            <a:ext cx="6296860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Система сравнивает векторы и выбирает наиболее близкие по смыслу chunks — даже если слова не совпадают буквально.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61475" y="5743674"/>
            <a:ext cx="6296860" cy="547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Векторный индекс не хранит «ответы ИИ» — он помогает определить, какие части исходных данных относятся к запросу.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69566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Retrieval-Augmented Generation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210" y="2397423"/>
            <a:ext cx="6565736" cy="28801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824012" y="4375023"/>
            <a:ext cx="992309" cy="177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Поиск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2824012" y="4603242"/>
            <a:ext cx="992309" cy="415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Найдены релевантные фрагменты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976344" y="4513612"/>
            <a:ext cx="992309" cy="177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Генерация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976344" y="4741831"/>
            <a:ext cx="992309" cy="277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Модель создаёт ответ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282591" y="2656280"/>
            <a:ext cx="992309" cy="177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Запрос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282591" y="2884498"/>
            <a:ext cx="992309" cy="277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Пользователь задаёт вопрос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422288" y="2656280"/>
            <a:ext cx="992310" cy="177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Дополнение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422288" y="2884498"/>
            <a:ext cx="992310" cy="415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Фрагменты добавлены в промпт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8017270" y="1940123"/>
            <a:ext cx="3519201" cy="379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RAG собирает предыдущие концепции воедино: модель не получает всю базу знаний заранее. Перед генерацией ответа выполняется поиск релевантной информации, найденные материалы добавляются к запросу, и только затем модель формирует результат.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Вместо семи тысяч файлов проекта модель получает небольшой набор материалов, связанных с задачей. RAG — это </a:t>
            </a: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архитектура подачи информации</a:t>
            </a: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существующей модели, особенно полезная для агентных систем.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0649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RAG для кодовой базы отличается от памяти агента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149971"/>
            <a:ext cx="5339820" cy="1706662"/>
          </a:xfrm>
          <a:prstGeom prst="roundRect">
            <a:avLst>
              <a:gd name="adj" fmla="val 4652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345333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Поиск по диалогам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2754015"/>
            <a:ext cx="4949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Полнотекстовый индекс прошлых разговоров. Возвращает реальные сообщения из предыдущих сессий — это retrieval, но не векторный RAG по коду.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2149971"/>
            <a:ext cx="5339919" cy="1706662"/>
          </a:xfrm>
          <a:prstGeom prst="roundRect">
            <a:avLst>
              <a:gd name="adj" fmla="val 4652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5658" y="2345333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Память агента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85658" y="2754015"/>
            <a:ext cx="49492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Небольшой набор устойчивых сведений между сессиями. Хранит то, что важно помнить всегда — не весь проект.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4045645"/>
            <a:ext cx="5339820" cy="1706662"/>
          </a:xfrm>
          <a:prstGeom prst="roundRect">
            <a:avLst>
              <a:gd name="adj" fmla="val 4652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6832" y="4241006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Архитектурный контекст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56832" y="4649688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Постоянные правила и инструкции проекта. Задаёт рамки для всех задач агента.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4045645"/>
            <a:ext cx="5339919" cy="1706662"/>
          </a:xfrm>
          <a:prstGeom prst="roundRect">
            <a:avLst>
              <a:gd name="adj" fmla="val 4652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5658" y="4241006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RAG по кодовой базе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85658" y="4649688"/>
            <a:ext cx="49492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Векторный поиск конкретных фрагментов, связанных с текущим техническим запросом. Разный жизненный цикл — разная роль.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596493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Правильная система использует все механизмы одновременно — они работают с разными типами информации.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75" y="120352"/>
            <a:ext cx="4411354" cy="66171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26951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Как должен выглядеть управляемый контекст агента</a:t>
            </a:r>
            <a:endParaRPr lang="en-US" sz="31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1735832"/>
            <a:ext cx="803255" cy="112960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01251" y="1896467"/>
            <a:ext cx="535708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Устойчивый слой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1601251" y="2229346"/>
            <a:ext cx="535708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Правила системы, проектные инструкции, важная постоянная информация — всегда в контексте.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2865438"/>
            <a:ext cx="803255" cy="112960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01251" y="3026073"/>
            <a:ext cx="535708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Поисковый слой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1601251" y="3358952"/>
            <a:ext cx="535708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Система определяет, что нужно для текущей задачи. RAG находит релевантные chunks и передаёт их как дополнительный контекст.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3995043"/>
            <a:ext cx="803255" cy="112960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601251" y="4155678"/>
            <a:ext cx="535708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Динамический контекст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1601251" y="4488557"/>
            <a:ext cx="535708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Если найденного недостаточно — ещё один поиск. Если информация больше не нужна — она не переносится в следующие запросы.</a:t>
            </a:r>
            <a:endParaRPr lang="en-US" sz="1250" dirty="0"/>
          </a:p>
        </p:txBody>
      </p:sp>
      <p:sp>
        <p:nvSpPr>
          <p:cNvPr id="14" name="Shape 8"/>
          <p:cNvSpPr/>
          <p:nvPr/>
        </p:nvSpPr>
        <p:spPr>
          <a:xfrm>
            <a:off x="661475" y="5278239"/>
            <a:ext cx="6296860" cy="1052711"/>
          </a:xfrm>
          <a:prstGeom prst="roundRect">
            <a:avLst>
              <a:gd name="adj" fmla="val 6410"/>
            </a:avLst>
          </a:prstGeom>
          <a:solidFill>
            <a:srgbClr val="DFF6D5"/>
          </a:solidFill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106" y="5473005"/>
            <a:ext cx="200814" cy="16063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83551" y="5454848"/>
            <a:ext cx="5614153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Хорошая система не стремится дать модели максимум информации — она предоставляет достаточную и релевантную информацию в нужный момент.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822</Words>
  <Application>Microsoft Office PowerPoint</Application>
  <PresentationFormat>Широкоэкранный</PresentationFormat>
  <Paragraphs>80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Nunito Sans</vt:lpstr>
      <vt:lpstr>Nunito Sans Bold</vt:lpstr>
      <vt:lpstr>Nunito Sans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2026-09-20T18:45:50Z</dcterms:created>
  <dcterms:modified xsi:type="dcterms:W3CDTF">2026-09-20T18:46:16Z</dcterms:modified>
</cp:coreProperties>
</file>