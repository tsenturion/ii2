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Nunito Sans" pitchFamily="2" charset="-52"/>
      <p:regular r:id="rId17"/>
    </p:embeddedFont>
    <p:embeddedFont>
      <p:font typeface="Nunito Sans Bold" charset="-52"/>
      <p:regular r:id="rId18"/>
    </p:embeddedFont>
    <p:embeddedFont>
      <p:font typeface="Nunito Sans Light" pitchFamily="2" charset="-52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2917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66" y="120352"/>
            <a:ext cx="4411354" cy="66171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691852"/>
            <a:ext cx="6296860" cy="150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Агенту нельзя доверять больше прав, чем требует его задача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5233360" y="2402780"/>
            <a:ext cx="6296860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Когда агент переходит от простого чат-бота к системе, которая читает файлы, запускает команды и работает с инфраструктурой, </a:t>
            </a:r>
            <a:r>
              <a:rPr lang="en-US" sz="12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безопасность становится частью архитектуры</a:t>
            </a: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233360" y="3269555"/>
            <a:ext cx="3080169" cy="1617762"/>
          </a:xfrm>
          <a:prstGeom prst="roundRect">
            <a:avLst>
              <a:gd name="adj" fmla="val 4171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00341" y="3436541"/>
            <a:ext cx="274620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Принцип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400341" y="3769420"/>
            <a:ext cx="2746207" cy="950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Если действие не требуется для задачи — технической возможности выполнить его быть не должно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450051" y="3269555"/>
            <a:ext cx="3080169" cy="1617762"/>
          </a:xfrm>
          <a:prstGeom prst="roundRect">
            <a:avLst>
              <a:gd name="adj" fmla="val 4171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17032" y="3436541"/>
            <a:ext cx="274620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Пример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8617032" y="3769420"/>
            <a:ext cx="2746207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Агент-ревьюер читает код и запускает тесты, но не имеет прав на push или удаление файлов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233360" y="5023842"/>
            <a:ext cx="6296860" cy="1142305"/>
          </a:xfrm>
          <a:prstGeom prst="roundRect">
            <a:avLst>
              <a:gd name="adj" fmla="val 5907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00341" y="5190827"/>
            <a:ext cx="596289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Термин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5400341" y="5523706"/>
            <a:ext cx="5962898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Это принцип </a:t>
            </a:r>
            <a:r>
              <a:rPr lang="en-US" sz="12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наименьших привилегий</a:t>
            </a: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(least privilege) — основа безопасной агентной системы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3081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Доступ к коду тоже необходимо разделять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298178"/>
            <a:ext cx="1147833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«Доступ к проекту» — это не одно разрешение, а несколько разных возможностей с разным уровнем риска.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672" y="1843088"/>
            <a:ext cx="3016869" cy="301694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08993" y="3113782"/>
            <a:ext cx="6927478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Read-only Reviewer и Migrator с правом изменения — это разные роли, даже если работают с одним репозиторием. Инструменты разделяются на отдельные </a:t>
            </a:r>
            <a:r>
              <a:rPr lang="en-US" sz="12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Toolsets</a:t>
            </a: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2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5167213"/>
            <a:ext cx="3531901" cy="116770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7354" y="5346898"/>
            <a:ext cx="309634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Чтение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917354" y="5679777"/>
            <a:ext cx="3096341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Просмотр файлов — минимальный риск</a:t>
            </a:r>
            <a:endParaRPr lang="en-US" sz="12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29897" y="5167213"/>
            <a:ext cx="3531901" cy="116770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85776" y="5346898"/>
            <a:ext cx="309634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Изменение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4585776" y="5679777"/>
            <a:ext cx="3096341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Редактирование кода — средний риск</a:t>
            </a:r>
            <a:endParaRPr lang="en-US" sz="12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98319" y="5167213"/>
            <a:ext cx="3531901" cy="116770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254198" y="5346898"/>
            <a:ext cx="309634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Исполнение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8254198" y="5679777"/>
            <a:ext cx="309634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Запуск команд и скриптов — высокий риск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66" y="120352"/>
            <a:ext cx="4411354" cy="66171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691952"/>
            <a:ext cx="6296860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Секреты не являются обычными файлами проекта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5233360" y="1900833"/>
            <a:ext cx="629686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API-ключи, токены и пароли требуют особой защиты. Чем больше компонентов получает секрет, тем выше риск утечки.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233360" y="2529880"/>
            <a:ext cx="361445" cy="361454"/>
          </a:xfrm>
          <a:prstGeom prst="roundRect">
            <a:avLst>
              <a:gd name="adj" fmla="val 18669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31327" y="2585045"/>
            <a:ext cx="5798893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Защищённые пути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731327" y="2917924"/>
            <a:ext cx="579889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Блокируют обычную запись в credential-файлы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233360" y="3428702"/>
            <a:ext cx="361445" cy="361454"/>
          </a:xfrm>
          <a:prstGeom prst="roundRect">
            <a:avLst>
              <a:gd name="adj" fmla="val 18669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31327" y="3483868"/>
            <a:ext cx="5798893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Автофильтрация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5731327" y="3816747"/>
            <a:ext cx="5798893" cy="481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Переменные с именами </a:t>
            </a:r>
            <a:r>
              <a:rPr lang="en-US" sz="12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TOKEN</a:t>
            </a: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</a:t>
            </a:r>
            <a:r>
              <a:rPr lang="en-US" sz="12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SECRET</a:t>
            </a: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</a:t>
            </a:r>
            <a:r>
              <a:rPr lang="en-US" sz="12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</a:t>
            </a: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автоматически фильтруются при выполнении кода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233360" y="4571603"/>
            <a:ext cx="361445" cy="361454"/>
          </a:xfrm>
          <a:prstGeom prst="roundRect">
            <a:avLst>
              <a:gd name="adj" fmla="val 18669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31327" y="4626769"/>
            <a:ext cx="5798893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Минимум доступа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5731327" y="4959648"/>
            <a:ext cx="579889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Ненужный секрет вообще не должен попадать в среду агента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233360" y="5350966"/>
            <a:ext cx="6296860" cy="814983"/>
          </a:xfrm>
          <a:prstGeom prst="roundRect">
            <a:avLst>
              <a:gd name="adj" fmla="val 8280"/>
            </a:avLst>
          </a:prstGeom>
          <a:solidFill>
            <a:srgbClr val="DFF6D5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3992" y="5545733"/>
            <a:ext cx="200814" cy="16063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755436" y="5527576"/>
            <a:ext cx="5614153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Безопасность строится не на просьбе в промпте, а на технических ограничениях.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6022"/>
            <a:ext cx="10868745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Доступ к инфраструктуре требует более строгой границы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3189188"/>
            <a:ext cx="6927478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Ошибка в локальной ветке можно отменить через Git. Ошибка агента на production-сервере влияет на реальную систему.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3404" y="1918494"/>
            <a:ext cx="3016869" cy="301694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2425" y="5223570"/>
            <a:ext cx="3528130" cy="109745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60205" y="5242620"/>
            <a:ext cx="331035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Вместо полного SSH-доступа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860205" y="5575498"/>
            <a:ext cx="331035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Предоставить read-only операцию состояния</a:t>
            </a:r>
            <a:endParaRPr lang="en-US" sz="12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22158" y="5223570"/>
            <a:ext cx="3528230" cy="109745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539938" y="5242620"/>
            <a:ext cx="3310450" cy="502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Вместо административного токена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4539938" y="5826522"/>
            <a:ext cx="331045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Узкий инструмент с конкретными функциями</a:t>
            </a:r>
            <a:endParaRPr lang="en-US" sz="12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01990" y="5223570"/>
            <a:ext cx="3528130" cy="109745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219770" y="5242620"/>
            <a:ext cx="331035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Контейнерная изоляция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8219770" y="5575498"/>
            <a:ext cx="331035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Docker добавляет дополнительный слой защиты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9468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Least privilege начинается с роли агента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063353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Прежде чем выдавать права, нужно определить роль и её задачи. Правильный подход: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начать с минимума и расширять только при конкретной необходимости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880816"/>
            <a:ext cx="1117572" cy="111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4234656"/>
            <a:ext cx="25399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Reviewer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4643338"/>
            <a:ext cx="253993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Проверяет изменения, только чтение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7645" y="2880816"/>
            <a:ext cx="1117572" cy="1117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37645" y="4234656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Migrator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3437645" y="4643338"/>
            <a:ext cx="254003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Изменяет ограниченную часть проекта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3915" y="2880816"/>
            <a:ext cx="1117572" cy="1117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13915" y="4234656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Release Agent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6213915" y="4643338"/>
            <a:ext cx="254003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Работает с CI/CD пайплайном</a:t>
            </a:r>
            <a:endParaRPr lang="en-US" sz="14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0184" y="2880816"/>
            <a:ext cx="1117572" cy="1117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990184" y="4234656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Documentation Agent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8990184" y="4643338"/>
            <a:ext cx="254003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Работает только с документацией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661475" y="5460802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Профили позволяют каждому агенту иметь независимую конфигурацию, credentials и набор инструментов.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6659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RBAC в агентной системе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61475" y="1524397"/>
            <a:ext cx="1086874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Role-Based Access Control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— управление доступом на основе роли. В агентной архитектуре это работает через несколько механизмов одновременно.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320925"/>
            <a:ext cx="10868745" cy="736104"/>
          </a:xfrm>
          <a:prstGeom prst="roundRect">
            <a:avLst>
              <a:gd name="adj" fmla="val 10616"/>
            </a:avLst>
          </a:prstGeom>
          <a:solidFill>
            <a:srgbClr val="DFF6D5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505" y="2584549"/>
            <a:ext cx="232563" cy="1860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66099" y="2550517"/>
            <a:ext cx="1068767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RBAC — это не одно поле, а согласованный набор реальных технических ограничений.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61475" y="3263007"/>
            <a:ext cx="37206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 Light" pitchFamily="34" charset="0"/>
                <a:ea typeface="Nunito Sans Light" pitchFamily="34" charset="-122"/>
                <a:cs typeface="Nunito Sans Light" pitchFamily="34" charset="-120"/>
              </a:rPr>
              <a:t>01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61475" y="3553817"/>
            <a:ext cx="5342796" cy="25400"/>
          </a:xfrm>
          <a:prstGeom prst="rect">
            <a:avLst/>
          </a:prstGeom>
          <a:solidFill>
            <a:srgbClr val="7DDB51"/>
          </a:solidFill>
          <a:ln/>
        </p:spPr>
      </p:sp>
      <p:sp>
        <p:nvSpPr>
          <p:cNvPr id="9" name="Text 6"/>
          <p:cNvSpPr/>
          <p:nvPr/>
        </p:nvSpPr>
        <p:spPr>
          <a:xfrm>
            <a:off x="661475" y="3697585"/>
            <a:ext cx="5342796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Профиль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61475" y="4098131"/>
            <a:ext cx="53427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Отделяет одного агента от другого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187424" y="3263007"/>
            <a:ext cx="37206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 Light" pitchFamily="34" charset="0"/>
                <a:ea typeface="Nunito Sans Light" pitchFamily="34" charset="-122"/>
                <a:cs typeface="Nunito Sans Light" pitchFamily="34" charset="-120"/>
              </a:rPr>
              <a:t>02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187424" y="3553817"/>
            <a:ext cx="5342796" cy="25400"/>
          </a:xfrm>
          <a:prstGeom prst="rect">
            <a:avLst/>
          </a:prstGeom>
          <a:solidFill>
            <a:srgbClr val="7DDB51"/>
          </a:solidFill>
          <a:ln/>
        </p:spPr>
      </p:sp>
      <p:sp>
        <p:nvSpPr>
          <p:cNvPr id="13" name="Text 10"/>
          <p:cNvSpPr/>
          <p:nvPr/>
        </p:nvSpPr>
        <p:spPr>
          <a:xfrm>
            <a:off x="6187424" y="3697585"/>
            <a:ext cx="5342796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Toolsets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187424" y="4098131"/>
            <a:ext cx="53427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Определяют технические возможности агента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661475" y="4716066"/>
            <a:ext cx="37206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 Light" pitchFamily="34" charset="0"/>
                <a:ea typeface="Nunito Sans Light" pitchFamily="34" charset="-122"/>
                <a:cs typeface="Nunito Sans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661475" y="5006876"/>
            <a:ext cx="5342796" cy="25400"/>
          </a:xfrm>
          <a:prstGeom prst="rect">
            <a:avLst/>
          </a:prstGeom>
          <a:solidFill>
            <a:srgbClr val="7DDB51"/>
          </a:solidFill>
          <a:ln/>
        </p:spPr>
      </p:sp>
      <p:sp>
        <p:nvSpPr>
          <p:cNvPr id="17" name="Text 14"/>
          <p:cNvSpPr/>
          <p:nvPr/>
        </p:nvSpPr>
        <p:spPr>
          <a:xfrm>
            <a:off x="661475" y="5150644"/>
            <a:ext cx="5342796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MCP-фильтры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61475" y="5551190"/>
            <a:ext cx="53427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Сокращают набор функций внешних сервисов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6187424" y="4716066"/>
            <a:ext cx="37206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 Light" pitchFamily="34" charset="0"/>
                <a:ea typeface="Nunito Sans Light" pitchFamily="34" charset="-122"/>
                <a:cs typeface="Nunito Sans Light" pitchFamily="34" charset="-120"/>
              </a:rPr>
              <a:t>04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6187424" y="5006876"/>
            <a:ext cx="5342796" cy="25400"/>
          </a:xfrm>
          <a:prstGeom prst="rect">
            <a:avLst/>
          </a:prstGeom>
          <a:solidFill>
            <a:srgbClr val="7DDB51"/>
          </a:solidFill>
          <a:ln/>
        </p:spPr>
      </p:sp>
      <p:sp>
        <p:nvSpPr>
          <p:cNvPr id="21" name="Text 18"/>
          <p:cNvSpPr/>
          <p:nvPr/>
        </p:nvSpPr>
        <p:spPr>
          <a:xfrm>
            <a:off x="6187424" y="5150644"/>
            <a:ext cx="5342796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Plugin capabilities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187424" y="5551190"/>
            <a:ext cx="534279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Требуют отдельного согласия на привилегированные действия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501" y="134541"/>
            <a:ext cx="4392503" cy="65889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35397"/>
            <a:ext cx="6296860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Опасные операции требуют отдельного контроля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661475" y="2013645"/>
            <a:ext cx="6296860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Даже если агент имеет необходимый доступ, опасные действия не должны выполняться автоматически.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2765723"/>
            <a:ext cx="897808" cy="107741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29836" y="2945209"/>
            <a:ext cx="5228499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Запрос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1729836" y="3327995"/>
            <a:ext cx="5228499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Агент инициирует рискованную команду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3843139"/>
            <a:ext cx="897808" cy="130194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729836" y="4022626"/>
            <a:ext cx="5228499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Подтверждение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1729836" y="4405412"/>
            <a:ext cx="5228499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Пользователь принимает решение: разово, на сессию или как постоянное правило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75" y="5145088"/>
            <a:ext cx="897808" cy="107741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729836" y="5324574"/>
            <a:ext cx="5228499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Результат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1729836" y="5707360"/>
            <a:ext cx="5228499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При отсутствии ответа операция блокируется — </a:t>
            </a:r>
            <a:r>
              <a:rPr lang="en-US" sz="14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fail closed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3478"/>
            <a:ext cx="10868745" cy="406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Изоляция ограничивает последствия ошибки</a:t>
            </a:r>
            <a:endParaRPr lang="en-US" sz="2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662" y="1165920"/>
            <a:ext cx="4084337" cy="40844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20325" y="2780705"/>
            <a:ext cx="4716146" cy="352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Даже хорошо настроенный агент может ошибиться. Задача — не только предотвратить ошибку, но и </a:t>
            </a:r>
            <a:r>
              <a:rPr lang="en-US" sz="10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ограничить её последствия</a:t>
            </a:r>
            <a:r>
              <a:rPr lang="en-US" sz="10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820325" y="3213497"/>
            <a:ext cx="4716146" cy="422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Defense in depth: approvals, ограничения записи, контейнерная изоляция и фильтрация credentials работают как независимые слои. Sandbox — не замена правильным разрешениям, а следующий защитный слой.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661475" y="5452170"/>
            <a:ext cx="10868745" cy="882352"/>
          </a:xfrm>
          <a:prstGeom prst="roundRect">
            <a:avLst>
              <a:gd name="adj" fmla="val 6200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67825" y="5458520"/>
            <a:ext cx="5428023" cy="869652"/>
          </a:xfrm>
          <a:custGeom>
            <a:avLst/>
            <a:gdLst/>
            <a:ahLst/>
            <a:cxnLst/>
            <a:rect l="l" t="t" r="r" b="b"/>
            <a:pathLst>
              <a:path w="5428023" h="869652">
                <a:moveTo>
                  <a:pt x="45586" y="0"/>
                </a:moveTo>
                <a:lnTo>
                  <a:pt x="5428023" y="0"/>
                </a:lnTo>
                <a:lnTo>
                  <a:pt x="5428023" y="869652"/>
                </a:lnTo>
                <a:lnTo>
                  <a:pt x="45586" y="869652"/>
                </a:lnTo>
                <a:arcTo wR="45586" hR="45587" stAng="5400000" swAng="5400000"/>
                <a:lnTo>
                  <a:pt x="0" y="45587"/>
                </a:lnTo>
                <a:arcTo wR="45586" hR="45587" stAng="10800000" swAng="5400000"/>
                <a:close/>
              </a:path>
            </a:pathLst>
          </a:custGeom>
          <a:solidFill>
            <a:srgbClr val="DFF6D5"/>
          </a:solidFill>
          <a:ln/>
        </p:spPr>
      </p:sp>
      <p:sp>
        <p:nvSpPr>
          <p:cNvPr id="8" name="Text 5"/>
          <p:cNvSpPr/>
          <p:nvPr/>
        </p:nvSpPr>
        <p:spPr>
          <a:xfrm>
            <a:off x="797996" y="5588695"/>
            <a:ext cx="5167679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Без изоляции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97996" y="5845969"/>
            <a:ext cx="5167679" cy="352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Выполнение на рабочей машине с полным доступом — большая область воздействия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095848" y="5458520"/>
            <a:ext cx="5428023" cy="869652"/>
          </a:xfrm>
          <a:custGeom>
            <a:avLst/>
            <a:gdLst/>
            <a:ahLst/>
            <a:cxnLst/>
            <a:rect l="l" t="t" r="r" b="b"/>
            <a:pathLst>
              <a:path w="5428023" h="869652">
                <a:moveTo>
                  <a:pt x="0" y="0"/>
                </a:moveTo>
                <a:lnTo>
                  <a:pt x="5382437" y="0"/>
                </a:lnTo>
                <a:arcTo wR="45586" hR="45587" stAng="16200000" swAng="5400000"/>
                <a:lnTo>
                  <a:pt x="5428023" y="824065"/>
                </a:lnTo>
                <a:arcTo wR="45586" hR="45587" stAng="0" swAng="5400000"/>
                <a:lnTo>
                  <a:pt x="0" y="869652"/>
                </a:lnTo>
                <a:lnTo>
                  <a:pt x="0" y="0"/>
                </a:lnTo>
                <a:close/>
              </a:path>
            </a:pathLst>
          </a:custGeom>
          <a:solidFill>
            <a:srgbClr val="DFF6D5"/>
          </a:solidFill>
          <a:ln/>
        </p:spPr>
      </p:sp>
      <p:sp>
        <p:nvSpPr>
          <p:cNvPr id="11" name="Shape 8"/>
          <p:cNvSpPr/>
          <p:nvPr/>
        </p:nvSpPr>
        <p:spPr>
          <a:xfrm>
            <a:off x="6095848" y="5458520"/>
            <a:ext cx="19050" cy="869652"/>
          </a:xfrm>
          <a:prstGeom prst="roundRect">
            <a:avLst>
              <a:gd name="adj" fmla="val 49999"/>
            </a:avLst>
          </a:prstGeom>
          <a:solidFill>
            <a:srgbClr val="C5DCBB"/>
          </a:solidFill>
          <a:ln/>
        </p:spPr>
      </p:sp>
      <p:sp>
        <p:nvSpPr>
          <p:cNvPr id="12" name="Text 9"/>
          <p:cNvSpPr/>
          <p:nvPr/>
        </p:nvSpPr>
        <p:spPr>
          <a:xfrm>
            <a:off x="6226019" y="5588695"/>
            <a:ext cx="5167679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 изоляцией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226019" y="5845969"/>
            <a:ext cx="5167679" cy="352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Выполнение в контейнере с минимальным набором файлов — ошибка остаётся в меньшей области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35645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Аудит отвечает на вопрос «что действительно сделал агент»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691283"/>
            <a:ext cx="1147833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После выполнения действия должна оставаться возможность восстановить происходившее. Это помогает разбирать как атаки, так и обычные ошибки.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509441"/>
            <a:ext cx="2243677" cy="14523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8285" y="2615704"/>
            <a:ext cx="170057" cy="2126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22205" y="3076476"/>
            <a:ext cx="192221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Кто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22205" y="3404195"/>
            <a:ext cx="1922216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Какой агент запустил действие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11412" y="2509441"/>
            <a:ext cx="2243677" cy="14523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048222" y="2615704"/>
            <a:ext cx="170057" cy="2126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172143" y="3076476"/>
            <a:ext cx="192221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Что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3172143" y="3404195"/>
            <a:ext cx="1922216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Какую команду он пытался выполнить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61349" y="2509441"/>
            <a:ext cx="2243677" cy="145236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398159" y="2615704"/>
            <a:ext cx="170057" cy="2126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5522080" y="3076476"/>
            <a:ext cx="192221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Как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5522080" y="3404195"/>
            <a:ext cx="1922216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Какие разрешения были предоставлены</a:t>
            </a:r>
            <a:endParaRPr lang="en-US" sz="11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068068"/>
            <a:ext cx="6943551" cy="125392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048222" y="4174331"/>
            <a:ext cx="170057" cy="2126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822205" y="4635103"/>
            <a:ext cx="662209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Итог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822205" y="4962823"/>
            <a:ext cx="662209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Какой процесс завершился и каким был результат</a:t>
            </a:r>
            <a:endParaRPr lang="en-US" sz="11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4610" y="2128838"/>
            <a:ext cx="2684395" cy="268446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957244" y="4932859"/>
            <a:ext cx="3579227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Сессии, решения approval и результаты процессов сохраняются на нескольких уровнях. Аудит помогает понять, была ли ошибка в решении модели, конфигурации или самом инструменте.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70248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Инцидент показывает качество модели доступа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2173982"/>
            <a:ext cx="1147833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Безопасность агента оценивается не по тому, способен ли он никогда не ошибаться, а по тому, </a:t>
            </a:r>
            <a:r>
              <a:rPr lang="en-US" sz="9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насколько система сохраняет контроль при неправильном решении модели</a:t>
            </a:r>
            <a:r>
              <a:rPr lang="en-US" sz="9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61475" y="2425898"/>
            <a:ext cx="5394488" cy="1108571"/>
          </a:xfrm>
          <a:prstGeom prst="roundRect">
            <a:avLst>
              <a:gd name="adj" fmla="val 4655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0654" y="2555081"/>
            <a:ext cx="368489" cy="368498"/>
          </a:xfrm>
          <a:prstGeom prst="ellipse">
            <a:avLst/>
          </a:prstGeom>
          <a:solidFill>
            <a:srgbClr val="7DDB5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1954" y="2656384"/>
            <a:ext cx="165790" cy="16579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0654" y="3003352"/>
            <a:ext cx="513612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Least Privilege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90654" y="3243163"/>
            <a:ext cx="5136129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У агента отсутствует нужный инструмент или credential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135732" y="2425898"/>
            <a:ext cx="5394488" cy="1108571"/>
          </a:xfrm>
          <a:prstGeom prst="roundRect">
            <a:avLst>
              <a:gd name="adj" fmla="val 4655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64912" y="2555081"/>
            <a:ext cx="368489" cy="368498"/>
          </a:xfrm>
          <a:prstGeom prst="ellipse">
            <a:avLst/>
          </a:prstGeom>
          <a:solidFill>
            <a:srgbClr val="7DDB5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66212" y="2656384"/>
            <a:ext cx="165790" cy="16579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64912" y="3003352"/>
            <a:ext cx="513612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Approval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264912" y="3243163"/>
            <a:ext cx="5136129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Опасная операция остановлена до выполнения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61475" y="3614241"/>
            <a:ext cx="5394488" cy="1108571"/>
          </a:xfrm>
          <a:prstGeom prst="roundRect">
            <a:avLst>
              <a:gd name="adj" fmla="val 4655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90654" y="3743424"/>
            <a:ext cx="368489" cy="368498"/>
          </a:xfrm>
          <a:prstGeom prst="ellipse">
            <a:avLst/>
          </a:prstGeom>
          <a:solidFill>
            <a:srgbClr val="7DDB51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1954" y="3844727"/>
            <a:ext cx="165790" cy="16579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90654" y="4191695"/>
            <a:ext cx="513612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Sandbox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790654" y="4431506"/>
            <a:ext cx="5136129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Код в контейнере ограничивает область воздействия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6135732" y="3614241"/>
            <a:ext cx="5394488" cy="1108571"/>
          </a:xfrm>
          <a:prstGeom prst="roundRect">
            <a:avLst>
              <a:gd name="adj" fmla="val 4655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264912" y="3743424"/>
            <a:ext cx="368489" cy="368498"/>
          </a:xfrm>
          <a:prstGeom prst="ellipse">
            <a:avLst/>
          </a:prstGeom>
          <a:solidFill>
            <a:srgbClr val="7DDB51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66212" y="3844727"/>
            <a:ext cx="165790" cy="16579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64912" y="4191695"/>
            <a:ext cx="513612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Аудит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264912" y="4431506"/>
            <a:ext cx="5136129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Данные о попытке сохранены для анализа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661475" y="4812605"/>
            <a:ext cx="10868745" cy="375047"/>
          </a:xfrm>
          <a:prstGeom prst="roundRect">
            <a:avLst>
              <a:gd name="adj" fmla="val 13759"/>
            </a:avLst>
          </a:prstGeom>
          <a:solidFill>
            <a:srgbClr val="DFF6D5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305" y="4929783"/>
            <a:ext cx="153488" cy="12283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60622" y="4923036"/>
            <a:ext cx="10956353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Несколько независимых слоёв защиты работают одновременно. Когда модель принимает неправильное решение, система остаётся под контролем.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710</Words>
  <Application>Microsoft Office PowerPoint</Application>
  <PresentationFormat>Широкоэкранный</PresentationFormat>
  <Paragraphs>111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Nunito Sans</vt:lpstr>
      <vt:lpstr>Arial</vt:lpstr>
      <vt:lpstr>Nunito Sans Bold</vt:lpstr>
      <vt:lpstr>Nunito Sans Light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2026-09-20T19:43:03Z</dcterms:created>
  <dcterms:modified xsi:type="dcterms:W3CDTF">2026-09-20T19:43:37Z</dcterms:modified>
</cp:coreProperties>
</file>