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Consolas" panose="020B0609020204030204" pitchFamily="49" charset="0"/>
      <p:regular r:id="rId13"/>
      <p:bold r:id="rId14"/>
      <p:italic r:id="rId15"/>
      <p:boldItalic r:id="rId16"/>
    </p:embeddedFont>
    <p:embeddedFont>
      <p:font typeface="Nunito Sans" pitchFamily="2" charset="-52"/>
      <p:regular r:id="rId17"/>
    </p:embeddedFont>
    <p:embeddedFont>
      <p:font typeface="Nunito Sans Bold" charset="-52"/>
      <p:regular r:id="rId1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 horzBarState="maximized">
    <p:restoredLeft sz="15611"/>
    <p:restoredTop sz="94610"/>
  </p:normalViewPr>
  <p:slideViewPr>
    <p:cSldViewPr snapToGrid="0" snapToObjects="1">
      <p:cViewPr varScale="1">
        <p:scale>
          <a:sx n="102" d="100"/>
          <a:sy n="102" d="100"/>
        </p:scale>
        <p:origin x="93" y="6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169853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6E6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svg"/><Relationship Id="rId5" Type="http://schemas.openxmlformats.org/officeDocument/2006/relationships/image" Target="../media/image14.svg"/><Relationship Id="rId4" Type="http://schemas.openxmlformats.org/officeDocument/2006/relationships/image" Target="../media/image1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DFF6D5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54" y="506909"/>
            <a:ext cx="4382879" cy="58440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1219994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Локальный Git и Git-хостинг — разные уровни</a:t>
            </a:r>
            <a:endParaRPr lang="en-US" sz="3700" dirty="0"/>
          </a:p>
        </p:txBody>
      </p:sp>
      <p:sp>
        <p:nvSpPr>
          <p:cNvPr id="5" name="Shape 2"/>
          <p:cNvSpPr/>
          <p:nvPr/>
        </p:nvSpPr>
        <p:spPr>
          <a:xfrm>
            <a:off x="5097236" y="2684760"/>
            <a:ext cx="3190101" cy="2953147"/>
          </a:xfrm>
          <a:prstGeom prst="roundRect">
            <a:avLst>
              <a:gd name="adj" fmla="val 4608"/>
            </a:avLst>
          </a:prstGeom>
          <a:solidFill>
            <a:srgbClr val="061B40"/>
          </a:solidFill>
          <a:ln/>
        </p:spPr>
      </p:sp>
      <p:sp>
        <p:nvSpPr>
          <p:cNvPr id="6" name="Text 3"/>
          <p:cNvSpPr/>
          <p:nvPr/>
        </p:nvSpPr>
        <p:spPr>
          <a:xfrm>
            <a:off x="5286243" y="2873772"/>
            <a:ext cx="281208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FFFFFF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Локальный Git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5286243" y="3358059"/>
            <a:ext cx="2812087" cy="1512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Работает с файлами и историей на вашем компьютере. Показывает, что происходит в вашей папке прямо сейчас.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8618719" y="2873772"/>
            <a:ext cx="2917851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Git-хостинг (GitHub, GitLab)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8618719" y="3653334"/>
            <a:ext cx="2917851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Удалённый сервер для хранения репозитория и организации командной работы. Показывает, что происходит в процессе разработки всей команды.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DFF6D5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40" y="475456"/>
            <a:ext cx="4430205" cy="590708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534690"/>
            <a:ext cx="6296860" cy="8860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Удалённый репозиторий как источник состояния</a:t>
            </a:r>
            <a:endParaRPr lang="en-US" sz="2750" dirty="0"/>
          </a:p>
        </p:txBody>
      </p:sp>
      <p:sp>
        <p:nvSpPr>
          <p:cNvPr id="5" name="Text 2"/>
          <p:cNvSpPr/>
          <p:nvPr/>
        </p:nvSpPr>
        <p:spPr>
          <a:xfrm>
            <a:off x="5233360" y="1580158"/>
            <a:ext cx="6296860" cy="396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Удалённый репозиторий — это не просто резервная копия. Это </a:t>
            </a:r>
            <a:r>
              <a:rPr lang="en-US" sz="110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центральная точка</a:t>
            </a:r>
            <a:r>
              <a:rPr lang="en-US" sz="11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, где сосредоточена вся актуальная информация о проекте.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5233360" y="2096591"/>
            <a:ext cx="6296860" cy="779661"/>
          </a:xfrm>
          <a:prstGeom prst="roundRect">
            <a:avLst>
              <a:gd name="adj" fmla="val 7637"/>
            </a:avLst>
          </a:prstGeom>
          <a:solidFill>
            <a:srgbClr val="DFF6D5"/>
          </a:solidFill>
          <a:ln w="6350">
            <a:solidFill>
              <a:srgbClr val="C5DCB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381391" y="2244626"/>
            <a:ext cx="600079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Опубликованные ветки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5381391" y="2529780"/>
            <a:ext cx="6000798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Все активные направления разработки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233360" y="2982516"/>
            <a:ext cx="6296860" cy="779661"/>
          </a:xfrm>
          <a:prstGeom prst="roundRect">
            <a:avLst>
              <a:gd name="adj" fmla="val 7637"/>
            </a:avLst>
          </a:prstGeom>
          <a:solidFill>
            <a:srgbClr val="DFF6D5"/>
          </a:solidFill>
          <a:ln w="6350">
            <a:solidFill>
              <a:srgbClr val="C5DCB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381391" y="3130550"/>
            <a:ext cx="600079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Pull Request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5381391" y="3415705"/>
            <a:ext cx="6000798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Обсуждения и предложения изменений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233360" y="3868440"/>
            <a:ext cx="6296860" cy="779661"/>
          </a:xfrm>
          <a:prstGeom prst="roundRect">
            <a:avLst>
              <a:gd name="adj" fmla="val 7637"/>
            </a:avLst>
          </a:prstGeom>
          <a:solidFill>
            <a:srgbClr val="DFF6D5"/>
          </a:solidFill>
          <a:ln w="6350">
            <a:solidFill>
              <a:srgbClr val="C5DCB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381391" y="4016474"/>
            <a:ext cx="600079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Автопроверки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5381391" y="4301629"/>
            <a:ext cx="6000798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Результаты CI/CD-пайплайнов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5233360" y="4754364"/>
            <a:ext cx="6296860" cy="779661"/>
          </a:xfrm>
          <a:prstGeom prst="roundRect">
            <a:avLst>
              <a:gd name="adj" fmla="val 7637"/>
            </a:avLst>
          </a:prstGeom>
          <a:solidFill>
            <a:srgbClr val="DFF6D5"/>
          </a:solidFill>
          <a:ln w="6350">
            <a:solidFill>
              <a:srgbClr val="C5DCB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381391" y="4902398"/>
            <a:ext cx="600079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История слияний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5381391" y="5187553"/>
            <a:ext cx="6000798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Полная летопись объединения кода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5233360" y="5653584"/>
            <a:ext cx="6296860" cy="669627"/>
          </a:xfrm>
          <a:prstGeom prst="roundRect">
            <a:avLst>
              <a:gd name="adj" fmla="val 8892"/>
            </a:avLst>
          </a:prstGeom>
          <a:solidFill>
            <a:srgbClr val="DFF6D5"/>
          </a:solidFill>
          <a:ln/>
        </p:spPr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75041" y="5810945"/>
            <a:ext cx="177200" cy="141684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5693922" y="5795268"/>
            <a:ext cx="5694617" cy="396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Для агента Hermes удалённый репозиторий — новый источник информации о состоянии проекта.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676797"/>
            <a:ext cx="3504219" cy="350430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633201" y="1076027"/>
            <a:ext cx="6903269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Ветка как изолированная область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4633201" y="2446338"/>
            <a:ext cx="6903269" cy="13924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Рабочая ветка создаёт </a:t>
            </a:r>
            <a:r>
              <a:rPr lang="en-US" sz="14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отдельное пространство</a:t>
            </a: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 для изменений, полностью отделённое от основной версии (</a:t>
            </a:r>
            <a:r>
              <a:rPr lang="en-US" sz="145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main</a:t>
            </a: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).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Это даёт агенту явную границу: все изменения текущей задачи находятся в одной ветке, основная ветка остаётся стабильной.</a:t>
            </a:r>
            <a:endParaRPr lang="en-US" sz="1450" dirty="0"/>
          </a:p>
        </p:txBody>
      </p:sp>
      <p:sp>
        <p:nvSpPr>
          <p:cNvPr id="5" name="Shape 2"/>
          <p:cNvSpPr/>
          <p:nvPr/>
        </p:nvSpPr>
        <p:spPr>
          <a:xfrm>
            <a:off x="4633201" y="4098627"/>
            <a:ext cx="6903269" cy="25400"/>
          </a:xfrm>
          <a:prstGeom prst="roundRect">
            <a:avLst>
              <a:gd name="adj" fmla="val 49999"/>
            </a:avLst>
          </a:prstGeom>
          <a:solidFill>
            <a:srgbClr val="000000">
              <a:alpha val="5000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4633201" y="4383881"/>
            <a:ext cx="690326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Пример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4633201" y="4868168"/>
            <a:ext cx="6903269" cy="932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Вместо изменений прямо в </a:t>
            </a:r>
            <a:r>
              <a:rPr lang="en-US" sz="145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main</a:t>
            </a: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 агент создаёт ветку </a:t>
            </a:r>
            <a:r>
              <a:rPr lang="en-US" sz="145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feature/update-dependency</a:t>
            </a: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, работает там, а затем предлагает объединить через Pull Request.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712020"/>
            <a:ext cx="10868745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Pull Request как объект процесса</a:t>
            </a:r>
            <a:endParaRPr lang="en-US" sz="2950" dirty="0"/>
          </a:p>
        </p:txBody>
      </p:sp>
      <p:sp>
        <p:nvSpPr>
          <p:cNvPr id="3" name="Text 1"/>
          <p:cNvSpPr/>
          <p:nvPr/>
        </p:nvSpPr>
        <p:spPr>
          <a:xfrm>
            <a:off x="661475" y="2365871"/>
            <a:ext cx="10868745" cy="4353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Pull Request (PR) — это не кнопка «добавить код». Это </a:t>
            </a:r>
            <a:r>
              <a:rPr lang="en-US" sz="11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формальный объект</a:t>
            </a:r>
            <a:r>
              <a:rPr lang="en-US" sz="11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, который связывает две ветки и содержит всё необходимое для проверки изменений.</a:t>
            </a:r>
            <a:endParaRPr lang="en-US" sz="11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2937272"/>
            <a:ext cx="5373851" cy="86697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07928" y="3107531"/>
            <a:ext cx="4957142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Описание изменений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907928" y="3416300"/>
            <a:ext cx="4957142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Контекст задачи и мотивация решения</a:t>
            </a:r>
            <a:endParaRPr lang="en-US" sz="11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56270" y="2937272"/>
            <a:ext cx="5373950" cy="86697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402723" y="3107531"/>
            <a:ext cx="4957242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Diff</a:t>
            </a:r>
            <a:endParaRPr lang="en-US" sz="1450" dirty="0"/>
          </a:p>
        </p:txBody>
      </p:sp>
      <p:sp>
        <p:nvSpPr>
          <p:cNvPr id="9" name="Text 5"/>
          <p:cNvSpPr/>
          <p:nvPr/>
        </p:nvSpPr>
        <p:spPr>
          <a:xfrm>
            <a:off x="6402723" y="3416300"/>
            <a:ext cx="4957242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Точный список того, что изменилось в коде</a:t>
            </a:r>
            <a:endParaRPr lang="en-US" sz="11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3925193"/>
            <a:ext cx="5373851" cy="866973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07928" y="4095452"/>
            <a:ext cx="4957142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Комментарии и обсуждения</a:t>
            </a:r>
            <a:endParaRPr lang="en-US" sz="1450" dirty="0"/>
          </a:p>
        </p:txBody>
      </p:sp>
      <p:sp>
        <p:nvSpPr>
          <p:cNvPr id="12" name="Text 7"/>
          <p:cNvSpPr/>
          <p:nvPr/>
        </p:nvSpPr>
        <p:spPr>
          <a:xfrm>
            <a:off x="907928" y="4404221"/>
            <a:ext cx="4957142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Диалог между участниками команды</a:t>
            </a:r>
            <a:endParaRPr lang="en-US" sz="11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56270" y="3925193"/>
            <a:ext cx="5373950" cy="866973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402723" y="4095452"/>
            <a:ext cx="4957242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Результаты проверок</a:t>
            </a:r>
            <a:endParaRPr lang="en-US" sz="1450" dirty="0"/>
          </a:p>
        </p:txBody>
      </p:sp>
      <p:sp>
        <p:nvSpPr>
          <p:cNvPr id="15" name="Text 9"/>
          <p:cNvSpPr/>
          <p:nvPr/>
        </p:nvSpPr>
        <p:spPr>
          <a:xfrm>
            <a:off x="6402723" y="4404221"/>
            <a:ext cx="4957242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Статусы автоматических тестов и CI</a:t>
            </a:r>
            <a:endParaRPr lang="en-US" sz="1150" dirty="0"/>
          </a:p>
        </p:txBody>
      </p:sp>
      <p:sp>
        <p:nvSpPr>
          <p:cNvPr id="16" name="Text 10"/>
          <p:cNvSpPr/>
          <p:nvPr/>
        </p:nvSpPr>
        <p:spPr>
          <a:xfrm>
            <a:off x="661475" y="4928195"/>
            <a:ext cx="11478330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PR формализует задачу: вместо абстрактной фразы «код готов» появляется конкретный объект на сервере.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98302"/>
            <a:ext cx="10868745" cy="502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5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Что агент может делать с PR</a:t>
            </a:r>
            <a:endParaRPr lang="en-US" sz="3150" dirty="0"/>
          </a:p>
        </p:txBody>
      </p:sp>
      <p:sp>
        <p:nvSpPr>
          <p:cNvPr id="3" name="Shape 1"/>
          <p:cNvSpPr/>
          <p:nvPr/>
        </p:nvSpPr>
        <p:spPr>
          <a:xfrm>
            <a:off x="661475" y="2608759"/>
            <a:ext cx="361445" cy="361454"/>
          </a:xfrm>
          <a:prstGeom prst="roundRect">
            <a:avLst>
              <a:gd name="adj" fmla="val 18669"/>
            </a:avLst>
          </a:prstGeom>
          <a:solidFill>
            <a:srgbClr val="DFF6D5"/>
          </a:solidFill>
          <a:ln w="6350">
            <a:solidFill>
              <a:srgbClr val="C5DCB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59441" y="2663924"/>
            <a:ext cx="2880447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409F42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Читать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1159441" y="3051473"/>
            <a:ext cx="2880447" cy="950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Получить список PR, прочитать описание, посмотреть diff и результаты проверок. </a:t>
            </a:r>
            <a:r>
              <a:rPr lang="en-US" sz="12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Безопасная операция.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210540" y="2608759"/>
            <a:ext cx="361445" cy="361454"/>
          </a:xfrm>
          <a:prstGeom prst="roundRect">
            <a:avLst>
              <a:gd name="adj" fmla="val 18669"/>
            </a:avLst>
          </a:prstGeom>
          <a:solidFill>
            <a:srgbClr val="DFF6D5"/>
          </a:solidFill>
          <a:ln w="6350">
            <a:solidFill>
              <a:srgbClr val="C5DCB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08506" y="2663924"/>
            <a:ext cx="2880447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409F42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Создавать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4708506" y="3051473"/>
            <a:ext cx="2880447" cy="475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Открыть новый PR после публикации ветки через GitHub CLI.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61475" y="4275435"/>
            <a:ext cx="361445" cy="361454"/>
          </a:xfrm>
          <a:prstGeom prst="roundRect">
            <a:avLst>
              <a:gd name="adj" fmla="val 18669"/>
            </a:avLst>
          </a:prstGeom>
          <a:solidFill>
            <a:srgbClr val="DFF6D5"/>
          </a:solidFill>
          <a:ln w="6350">
            <a:solidFill>
              <a:srgbClr val="C5DCB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59441" y="4330601"/>
            <a:ext cx="6429512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409F42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Комментировать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1159441" y="4718149"/>
            <a:ext cx="6429512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Оставить замечание или результат анализа прямо в PR.</a:t>
            </a:r>
            <a:endParaRPr lang="en-US" sz="1250" dirty="0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3404" y="1558727"/>
            <a:ext cx="3016869" cy="3016945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7987207" y="4729262"/>
            <a:ext cx="3549264" cy="1276747"/>
          </a:xfrm>
          <a:prstGeom prst="roundRect">
            <a:avLst>
              <a:gd name="adj" fmla="val 5285"/>
            </a:avLst>
          </a:prstGeom>
          <a:solidFill>
            <a:srgbClr val="FCF2B5"/>
          </a:solidFill>
          <a:ln/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47838" y="4936728"/>
            <a:ext cx="200814" cy="160635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8509283" y="4892179"/>
            <a:ext cx="2866556" cy="950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Слияние PR — серьёзное действие. Техническая возможность не означает, что её нужно использовать без явного разрешения.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DFF6D5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9501" y="500559"/>
            <a:ext cx="4392403" cy="58567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764977"/>
            <a:ext cx="6296860" cy="11223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50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CI/CD-триггер как реакция на событие</a:t>
            </a:r>
            <a:endParaRPr lang="en-US" sz="3500" dirty="0"/>
          </a:p>
        </p:txBody>
      </p:sp>
      <p:sp>
        <p:nvSpPr>
          <p:cNvPr id="5" name="Text 2"/>
          <p:cNvSpPr/>
          <p:nvPr/>
        </p:nvSpPr>
        <p:spPr>
          <a:xfrm>
            <a:off x="661475" y="2143224"/>
            <a:ext cx="6296860" cy="560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CI/CD не запускается случайно — его инициирует конкретное </a:t>
            </a:r>
            <a:r>
              <a:rPr lang="en-US" sz="140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событие (trigger)</a:t>
            </a:r>
            <a:r>
              <a:rPr lang="en-US" sz="14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.</a:t>
            </a:r>
            <a:endParaRPr lang="en-US" sz="14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8931" y="2895302"/>
            <a:ext cx="5981947" cy="216554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258030" y="4532240"/>
            <a:ext cx="1577327" cy="1873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CI/CD: тесты и сборка</a:t>
            </a:r>
            <a:endParaRPr lang="en-US" sz="1150" dirty="0"/>
          </a:p>
        </p:txBody>
      </p:sp>
      <p:sp>
        <p:nvSpPr>
          <p:cNvPr id="8" name="Text 4"/>
          <p:cNvSpPr/>
          <p:nvPr/>
        </p:nvSpPr>
        <p:spPr>
          <a:xfrm>
            <a:off x="1258030" y="3879523"/>
            <a:ext cx="1498549" cy="1873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Сигнал от Git</a:t>
            </a:r>
            <a:endParaRPr lang="en-US" sz="1150" dirty="0"/>
          </a:p>
        </p:txBody>
      </p:sp>
      <p:sp>
        <p:nvSpPr>
          <p:cNvPr id="9" name="Text 5"/>
          <p:cNvSpPr/>
          <p:nvPr/>
        </p:nvSpPr>
        <p:spPr>
          <a:xfrm>
            <a:off x="1258030" y="3220145"/>
            <a:ext cx="1498549" cy="1873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Событие</a:t>
            </a:r>
            <a:endParaRPr lang="en-US" sz="1150" dirty="0"/>
          </a:p>
        </p:txBody>
      </p:sp>
      <p:sp>
        <p:nvSpPr>
          <p:cNvPr id="10" name="Text 6"/>
          <p:cNvSpPr/>
          <p:nvPr/>
        </p:nvSpPr>
        <p:spPr>
          <a:xfrm>
            <a:off x="661475" y="5252740"/>
            <a:ext cx="6296860" cy="8402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Когда агент публикует изменение, Git-хостинг передаёт сигнал системе автоматизации. Та запускает тесты, проверки и сборку. Git-хостинг становится </a:t>
            </a:r>
            <a:r>
              <a:rPr lang="en-US" sz="140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координационным центром</a:t>
            </a:r>
            <a:r>
              <a:rPr lang="en-US" sz="14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 между кодом и автоматизацией.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602780"/>
            <a:ext cx="6903269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Статус CI как обратная связь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382441"/>
            <a:ext cx="6903269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После создания PR агент не должен считать задачу завершённой. На сервере запускаются проверки, которые </a:t>
            </a:r>
            <a:r>
              <a:rPr lang="en-US" sz="14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невозможно полностью воспроизвести локально</a:t>
            </a: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.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661475" y="3459758"/>
            <a:ext cx="6903269" cy="1039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Тестирование на другой операционной системе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Запуск в изолированном контейнере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Интеграционные тесты с зависимостями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61475" y="4669234"/>
            <a:ext cx="690326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Статус CI — новый источник обратной связи. Если проверка упала, агент должен прочитать результат и решить, что делать дальше.</a:t>
            </a:r>
            <a:endParaRPr lang="en-US" sz="14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32251" y="1676797"/>
            <a:ext cx="3504219" cy="350430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19026"/>
            <a:ext cx="10868745" cy="443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Pull Request не равен успешному CI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661475" y="1274663"/>
            <a:ext cx="11478330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Два понятия, которые часто путают. На самом деле это </a:t>
            </a:r>
            <a:r>
              <a:rPr lang="en-US" sz="110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разные этапы</a:t>
            </a:r>
            <a:r>
              <a:rPr lang="en-US" sz="11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 одного процесса.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086323" y="1592659"/>
            <a:ext cx="19050" cy="4055566"/>
          </a:xfrm>
          <a:prstGeom prst="roundRect">
            <a:avLst>
              <a:gd name="adj" fmla="val 49999"/>
            </a:avLst>
          </a:prstGeom>
          <a:solidFill>
            <a:srgbClr val="C5DCBB"/>
          </a:solidFill>
          <a:ln/>
        </p:spPr>
      </p:sp>
      <p:sp>
        <p:nvSpPr>
          <p:cNvPr id="5" name="Shape 3"/>
          <p:cNvSpPr/>
          <p:nvPr/>
        </p:nvSpPr>
        <p:spPr>
          <a:xfrm>
            <a:off x="5530216" y="1742579"/>
            <a:ext cx="425241" cy="19050"/>
          </a:xfrm>
          <a:prstGeom prst="roundRect">
            <a:avLst>
              <a:gd name="adj" fmla="val 49999"/>
            </a:avLst>
          </a:prstGeom>
          <a:solidFill>
            <a:srgbClr val="C5DCBB"/>
          </a:solidFill>
          <a:ln/>
        </p:spPr>
      </p:sp>
      <p:sp>
        <p:nvSpPr>
          <p:cNvPr id="6" name="Shape 4"/>
          <p:cNvSpPr/>
          <p:nvPr/>
        </p:nvSpPr>
        <p:spPr>
          <a:xfrm>
            <a:off x="5936407" y="1592659"/>
            <a:ext cx="318881" cy="318889"/>
          </a:xfrm>
          <a:prstGeom prst="roundRect">
            <a:avLst>
              <a:gd name="adj" fmla="val 18672"/>
            </a:avLst>
          </a:prstGeom>
          <a:solidFill>
            <a:srgbClr val="DFF6D5"/>
          </a:solidFill>
          <a:ln w="6350">
            <a:solidFill>
              <a:srgbClr val="C5DCB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89537" y="1619200"/>
            <a:ext cx="212620" cy="265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1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661475" y="1641376"/>
            <a:ext cx="472557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Опубликовано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61475" y="1926530"/>
            <a:ext cx="4725572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17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Ветка отправлена на сервер, PR открыт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36239" y="2522240"/>
            <a:ext cx="425241" cy="19050"/>
          </a:xfrm>
          <a:prstGeom prst="roundRect">
            <a:avLst>
              <a:gd name="adj" fmla="val 49999"/>
            </a:avLst>
          </a:prstGeom>
          <a:solidFill>
            <a:srgbClr val="C5DCBB"/>
          </a:solidFill>
          <a:ln/>
        </p:spPr>
      </p:sp>
      <p:sp>
        <p:nvSpPr>
          <p:cNvPr id="11" name="Shape 9"/>
          <p:cNvSpPr/>
          <p:nvPr/>
        </p:nvSpPr>
        <p:spPr>
          <a:xfrm>
            <a:off x="5936407" y="2372320"/>
            <a:ext cx="318881" cy="318889"/>
          </a:xfrm>
          <a:prstGeom prst="roundRect">
            <a:avLst>
              <a:gd name="adj" fmla="val 18672"/>
            </a:avLst>
          </a:prstGeom>
          <a:solidFill>
            <a:srgbClr val="DFF6D5"/>
          </a:solidFill>
          <a:ln w="6350">
            <a:solidFill>
              <a:srgbClr val="C5DCB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89537" y="2398861"/>
            <a:ext cx="212620" cy="265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2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6804649" y="2421037"/>
            <a:ext cx="472557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Проверка запущена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804649" y="2706191"/>
            <a:ext cx="4725572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CI/CD-пайплайн начал выполнение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530216" y="3219946"/>
            <a:ext cx="425241" cy="19050"/>
          </a:xfrm>
          <a:prstGeom prst="roundRect">
            <a:avLst>
              <a:gd name="adj" fmla="val 49999"/>
            </a:avLst>
          </a:prstGeom>
          <a:solidFill>
            <a:srgbClr val="C5DCBB"/>
          </a:solidFill>
          <a:ln/>
        </p:spPr>
      </p:sp>
      <p:sp>
        <p:nvSpPr>
          <p:cNvPr id="16" name="Shape 14"/>
          <p:cNvSpPr/>
          <p:nvPr/>
        </p:nvSpPr>
        <p:spPr>
          <a:xfrm>
            <a:off x="5936407" y="3070027"/>
            <a:ext cx="318881" cy="318889"/>
          </a:xfrm>
          <a:prstGeom prst="roundRect">
            <a:avLst>
              <a:gd name="adj" fmla="val 18672"/>
            </a:avLst>
          </a:prstGeom>
          <a:solidFill>
            <a:srgbClr val="DFF6D5"/>
          </a:solidFill>
          <a:ln w="6350">
            <a:solidFill>
              <a:srgbClr val="C5DCB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89537" y="3096568"/>
            <a:ext cx="212620" cy="265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3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661475" y="3118743"/>
            <a:ext cx="472557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Проверка завершена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661475" y="3403898"/>
            <a:ext cx="4725572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17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Тесты прошли (или упали)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236239" y="3917652"/>
            <a:ext cx="425241" cy="19050"/>
          </a:xfrm>
          <a:prstGeom prst="roundRect">
            <a:avLst>
              <a:gd name="adj" fmla="val 49999"/>
            </a:avLst>
          </a:prstGeom>
          <a:solidFill>
            <a:srgbClr val="C5DCBB"/>
          </a:solidFill>
          <a:ln/>
        </p:spPr>
      </p:sp>
      <p:sp>
        <p:nvSpPr>
          <p:cNvPr id="21" name="Shape 19"/>
          <p:cNvSpPr/>
          <p:nvPr/>
        </p:nvSpPr>
        <p:spPr>
          <a:xfrm>
            <a:off x="5936407" y="3767733"/>
            <a:ext cx="318881" cy="318889"/>
          </a:xfrm>
          <a:prstGeom prst="roundRect">
            <a:avLst>
              <a:gd name="adj" fmla="val 18672"/>
            </a:avLst>
          </a:prstGeom>
          <a:solidFill>
            <a:srgbClr val="DFF6D5"/>
          </a:solidFill>
          <a:ln w="6350">
            <a:solidFill>
              <a:srgbClr val="C5DCB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89537" y="3794274"/>
            <a:ext cx="212620" cy="265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4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6804649" y="3816449"/>
            <a:ext cx="472557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Review проведён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6804649" y="4101604"/>
            <a:ext cx="4725572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Человек просмотрел и одобрил изменения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530216" y="4615359"/>
            <a:ext cx="425241" cy="19050"/>
          </a:xfrm>
          <a:prstGeom prst="roundRect">
            <a:avLst>
              <a:gd name="adj" fmla="val 49999"/>
            </a:avLst>
          </a:prstGeom>
          <a:solidFill>
            <a:srgbClr val="C5DCBB"/>
          </a:solidFill>
          <a:ln/>
        </p:spPr>
      </p:sp>
      <p:sp>
        <p:nvSpPr>
          <p:cNvPr id="26" name="Shape 24"/>
          <p:cNvSpPr/>
          <p:nvPr/>
        </p:nvSpPr>
        <p:spPr>
          <a:xfrm>
            <a:off x="5936407" y="4465439"/>
            <a:ext cx="318881" cy="318889"/>
          </a:xfrm>
          <a:prstGeom prst="roundRect">
            <a:avLst>
              <a:gd name="adj" fmla="val 18672"/>
            </a:avLst>
          </a:prstGeom>
          <a:solidFill>
            <a:srgbClr val="DFF6D5"/>
          </a:solidFill>
          <a:ln w="6350">
            <a:solidFill>
              <a:srgbClr val="C5DCB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89537" y="4491980"/>
            <a:ext cx="212620" cy="265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5</a:t>
            </a:r>
            <a:endParaRPr lang="en-US" sz="1650" dirty="0"/>
          </a:p>
        </p:txBody>
      </p:sp>
      <p:sp>
        <p:nvSpPr>
          <p:cNvPr id="28" name="Text 26"/>
          <p:cNvSpPr/>
          <p:nvPr/>
        </p:nvSpPr>
        <p:spPr>
          <a:xfrm>
            <a:off x="661475" y="4514155"/>
            <a:ext cx="472557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Готово к слиянию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661475" y="4799310"/>
            <a:ext cx="4725572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17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Все условия репозитория выполнены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61475" y="5767784"/>
            <a:ext cx="10868745" cy="471190"/>
          </a:xfrm>
          <a:prstGeom prst="roundRect">
            <a:avLst>
              <a:gd name="adj" fmla="val 12636"/>
            </a:avLst>
          </a:prstGeom>
          <a:solidFill>
            <a:srgbClr val="DFF6D5"/>
          </a:solidFill>
          <a:ln/>
        </p:spPr>
      </p:sp>
      <p:pic>
        <p:nvPicPr>
          <p:cNvPr id="3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3156" y="5925145"/>
            <a:ext cx="177200" cy="141684"/>
          </a:xfrm>
          <a:prstGeom prst="rect">
            <a:avLst/>
          </a:prstGeom>
        </p:spPr>
      </p:pic>
      <p:sp>
        <p:nvSpPr>
          <p:cNvPr id="32" name="Text 29"/>
          <p:cNvSpPr/>
          <p:nvPr/>
        </p:nvSpPr>
        <p:spPr>
          <a:xfrm>
            <a:off x="1122037" y="5909469"/>
            <a:ext cx="10876087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CI может быть зелёным, но PR всё ещё ждёт человеческого review — и наоборот.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4768"/>
            <a:ext cx="10868745" cy="3046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Polling и Webhook — два режима интеграции</a:t>
            </a:r>
            <a:endParaRPr lang="en-US" sz="19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961132"/>
            <a:ext cx="5315512" cy="531564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21058" y="2949575"/>
            <a:ext cx="5315512" cy="1523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Polling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6221058" y="3152080"/>
            <a:ext cx="5315512" cy="236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10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Агент сам периодически спрашивает сервер: появились ли новые PR или изменился ли статус. Проще в реализации, работает везде.</a:t>
            </a:r>
            <a:endParaRPr lang="en-US" sz="750" dirty="0"/>
          </a:p>
        </p:txBody>
      </p:sp>
      <p:sp>
        <p:nvSpPr>
          <p:cNvPr id="6" name="Shape 3"/>
          <p:cNvSpPr/>
          <p:nvPr/>
        </p:nvSpPr>
        <p:spPr>
          <a:xfrm>
            <a:off x="6221058" y="3468985"/>
            <a:ext cx="5315512" cy="12700"/>
          </a:xfrm>
          <a:prstGeom prst="roundRect">
            <a:avLst>
              <a:gd name="adj" fmla="val 49999"/>
            </a:avLst>
          </a:prstGeom>
          <a:solidFill>
            <a:srgbClr val="000000">
              <a:alpha val="50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6221058" y="3562449"/>
            <a:ext cx="5315512" cy="1523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Webhook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6221058" y="3764955"/>
            <a:ext cx="5315512" cy="236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10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Git-хостинг сам отправляет событие агенту, когда PR создан или обновлён. Быстрее, но требует публичного адреса для приёма запросов.</a:t>
            </a:r>
            <a:endParaRPr lang="en-US" sz="750" dirty="0"/>
          </a:p>
        </p:txBody>
      </p:sp>
      <p:sp>
        <p:nvSpPr>
          <p:cNvPr id="9" name="Shape 6"/>
          <p:cNvSpPr/>
          <p:nvPr/>
        </p:nvSpPr>
        <p:spPr>
          <a:xfrm>
            <a:off x="6221058" y="4081859"/>
            <a:ext cx="5315512" cy="12700"/>
          </a:xfrm>
          <a:prstGeom prst="roundRect">
            <a:avLst>
              <a:gd name="adj" fmla="val 49999"/>
            </a:avLst>
          </a:prstGeom>
          <a:solidFill>
            <a:srgbClr val="000000">
              <a:alpha val="50000"/>
            </a:srgbClr>
          </a:solidFill>
          <a:ln/>
        </p:spPr>
      </p:sp>
      <p:sp>
        <p:nvSpPr>
          <p:cNvPr id="10" name="Text 7"/>
          <p:cNvSpPr/>
          <p:nvPr/>
        </p:nvSpPr>
        <p:spPr>
          <a:xfrm>
            <a:off x="6221058" y="4175323"/>
            <a:ext cx="5925096" cy="118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10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Это </a:t>
            </a:r>
            <a:r>
              <a:rPr lang="en-US" sz="7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архитектурный выбор</a:t>
            </a:r>
            <a:r>
              <a:rPr lang="en-US" sz="7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, а не вопрос качества модели или агента.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DFF6D5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4838" y="494407"/>
            <a:ext cx="4401730" cy="586918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520898"/>
            <a:ext cx="6296860" cy="531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0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Роль Hermes в Git-процессе</a:t>
            </a:r>
            <a:endParaRPr lang="en-US" sz="3300" dirty="0"/>
          </a:p>
        </p:txBody>
      </p:sp>
      <p:sp>
        <p:nvSpPr>
          <p:cNvPr id="5" name="Text 2"/>
          <p:cNvSpPr/>
          <p:nvPr/>
        </p:nvSpPr>
        <p:spPr>
          <a:xfrm>
            <a:off x="661475" y="1282105"/>
            <a:ext cx="6906444" cy="258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Hermes — </a:t>
            </a:r>
            <a:r>
              <a:rPr lang="en-US" sz="130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участник существующего Git-процесса</a:t>
            </a:r>
            <a:r>
              <a:rPr lang="en-US" sz="13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, а не замена Git-хостингу.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661475" y="1712912"/>
            <a:ext cx="3071835" cy="1890812"/>
          </a:xfrm>
          <a:prstGeom prst="roundRect">
            <a:avLst>
              <a:gd name="adj" fmla="val 3779"/>
            </a:avLst>
          </a:prstGeom>
          <a:solidFill>
            <a:srgbClr val="DFF6D5"/>
          </a:solidFill>
          <a:ln w="6350">
            <a:solidFill>
              <a:srgbClr val="C5DCBB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37881" y="1889323"/>
            <a:ext cx="510269" cy="510282"/>
          </a:xfrm>
          <a:prstGeom prst="ellipse">
            <a:avLst/>
          </a:prstGeom>
          <a:solidFill>
            <a:srgbClr val="7DDB51"/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78173" y="2029619"/>
            <a:ext cx="229586" cy="22959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37881" y="2552700"/>
            <a:ext cx="2719022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Локальная подготовка</a:t>
            </a:r>
            <a:endParaRPr lang="en-US" sz="1650" dirty="0"/>
          </a:p>
        </p:txBody>
      </p:sp>
      <p:sp>
        <p:nvSpPr>
          <p:cNvPr id="10" name="Text 6"/>
          <p:cNvSpPr/>
          <p:nvPr/>
        </p:nvSpPr>
        <p:spPr>
          <a:xfrm>
            <a:off x="837881" y="2910185"/>
            <a:ext cx="2719022" cy="51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Hermes готовит изменения на вашем компьютере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3886400" y="1712912"/>
            <a:ext cx="3071934" cy="1890812"/>
          </a:xfrm>
          <a:prstGeom prst="roundRect">
            <a:avLst>
              <a:gd name="adj" fmla="val 3779"/>
            </a:avLst>
          </a:prstGeom>
          <a:solidFill>
            <a:srgbClr val="DFF6D5"/>
          </a:solidFill>
          <a:ln w="6350">
            <a:solidFill>
              <a:srgbClr val="C5DCBB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4062807" y="1889323"/>
            <a:ext cx="510269" cy="510282"/>
          </a:xfrm>
          <a:prstGeom prst="ellipse">
            <a:avLst/>
          </a:prstGeom>
          <a:solidFill>
            <a:srgbClr val="7DDB51"/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203099" y="2029619"/>
            <a:ext cx="229586" cy="22959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062807" y="2552700"/>
            <a:ext cx="2719121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Ветка и PR</a:t>
            </a:r>
            <a:endParaRPr lang="en-US" sz="1650" dirty="0"/>
          </a:p>
        </p:txBody>
      </p:sp>
      <p:sp>
        <p:nvSpPr>
          <p:cNvPr id="15" name="Text 10"/>
          <p:cNvSpPr/>
          <p:nvPr/>
        </p:nvSpPr>
        <p:spPr>
          <a:xfrm>
            <a:off x="4062807" y="2910185"/>
            <a:ext cx="2719121" cy="51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Создаёт ветку и открывает PR через GitHub CLI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661475" y="3756819"/>
            <a:ext cx="6296860" cy="1632248"/>
          </a:xfrm>
          <a:prstGeom prst="roundRect">
            <a:avLst>
              <a:gd name="adj" fmla="val 4377"/>
            </a:avLst>
          </a:prstGeom>
          <a:solidFill>
            <a:srgbClr val="DFF6D5"/>
          </a:solidFill>
          <a:ln w="6350">
            <a:solidFill>
              <a:srgbClr val="C5DCBB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837881" y="3933230"/>
            <a:ext cx="510269" cy="510282"/>
          </a:xfrm>
          <a:prstGeom prst="ellipse">
            <a:avLst/>
          </a:prstGeom>
          <a:solidFill>
            <a:srgbClr val="7DDB51"/>
          </a:solidFill>
          <a:ln/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78173" y="4073525"/>
            <a:ext cx="229586" cy="229592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837881" y="4596606"/>
            <a:ext cx="5944047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Статус CI</a:t>
            </a:r>
            <a:endParaRPr lang="en-US" sz="1650" dirty="0"/>
          </a:p>
        </p:txBody>
      </p:sp>
      <p:sp>
        <p:nvSpPr>
          <p:cNvPr id="20" name="Text 14"/>
          <p:cNvSpPr/>
          <p:nvPr/>
        </p:nvSpPr>
        <p:spPr>
          <a:xfrm>
            <a:off x="837881" y="4954091"/>
            <a:ext cx="5944047" cy="258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Получает результаты проверок и реагирует на них</a:t>
            </a:r>
            <a:endParaRPr lang="en-US" sz="1300" dirty="0"/>
          </a:p>
        </p:txBody>
      </p:sp>
      <p:sp>
        <p:nvSpPr>
          <p:cNvPr id="21" name="Text 15"/>
          <p:cNvSpPr/>
          <p:nvPr/>
        </p:nvSpPr>
        <p:spPr>
          <a:xfrm>
            <a:off x="661475" y="5561310"/>
            <a:ext cx="6296860" cy="7756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GitHub отвечает за удалённый репозиторий, PR, проверки и правила слияния. </a:t>
            </a:r>
            <a:r>
              <a:rPr lang="en-US" sz="130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Отправка кода — это только начало процесса проверки</a:t>
            </a:r>
            <a:r>
              <a:rPr lang="en-US" sz="13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, а не его конец.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671</Words>
  <Application>Microsoft Office PowerPoint</Application>
  <PresentationFormat>Широкоэкранный</PresentationFormat>
  <Paragraphs>95</Paragraphs>
  <Slides>10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5" baseType="lpstr">
      <vt:lpstr>Arial</vt:lpstr>
      <vt:lpstr>Nunito Sans</vt:lpstr>
      <vt:lpstr>Nunito Sans Bold</vt:lpstr>
      <vt:lpstr>Consolas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Ефимов Матвей Александрович</cp:lastModifiedBy>
  <cp:revision>2</cp:revision>
  <dcterms:created xsi:type="dcterms:W3CDTF">2026-09-20T19:26:09Z</dcterms:created>
  <dcterms:modified xsi:type="dcterms:W3CDTF">2026-09-20T19:27:06Z</dcterms:modified>
</cp:coreProperties>
</file>