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Nunito Sans" pitchFamily="2" charset="-52"/>
      <p:regular r:id="rId17"/>
      <p:italic r:id="rId18"/>
    </p:embeddedFont>
    <p:embeddedFont>
      <p:font typeface="Nunito Sans Bold" charset="-52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65771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501" y="134541"/>
            <a:ext cx="4392503" cy="65889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524000"/>
            <a:ext cx="6296860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Агент как цикл обучения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661475" y="2341066"/>
            <a:ext cx="6296860" cy="2992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Aft>
                <a:spcPts val="15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Агент — это не система, которая получает задачу и сразу выдаёт ответ. Это </a:t>
            </a:r>
            <a:r>
              <a:rPr lang="en-US" sz="14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циклический процесс</a:t>
            </a: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где каждое следующее действие зависит от результата предыдущего. Агент получает цель, определяет, что делать дальше, выполняет действие, анализирует результат и на основе новой информации решает следующий шаг.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Представьте проверку проекта после обновления зависимостей. Агент сначала изучает состояние репозитория, видит изменённые файлы, читает важные из них, запускает тесты и только потом делает вывод. Каждый этап открывает новую информацию, которая влияет на дальнейшие действия.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023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Три этапа агентного цикла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7343" y="1598910"/>
            <a:ext cx="7797010" cy="38112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87628" y="2910247"/>
            <a:ext cx="1817712" cy="227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Планирование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689649" y="2037723"/>
            <a:ext cx="1817713" cy="227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Выполнение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586261" y="3831244"/>
            <a:ext cx="1817712" cy="227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Проверка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76287" y="4719925"/>
            <a:ext cx="1817712" cy="227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Повторение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61475" y="5622826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Один агент может несколько раз пройти через эти этапы внутри одной задачи. Если результата недостаточно, цикл повторяется с новой информацией.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5412" y="113407"/>
            <a:ext cx="4420680" cy="6631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209675"/>
            <a:ext cx="6296860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Ошибка как информация, а не как отказ</a:t>
            </a:r>
            <a:endParaRPr lang="en-US" sz="2950" dirty="0"/>
          </a:p>
        </p:txBody>
      </p:sp>
      <p:sp>
        <p:nvSpPr>
          <p:cNvPr id="5" name="Text 2"/>
          <p:cNvSpPr/>
          <p:nvPr/>
        </p:nvSpPr>
        <p:spPr>
          <a:xfrm>
            <a:off x="661475" y="2444849"/>
            <a:ext cx="2963987" cy="250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spcAft>
                <a:spcPts val="85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Когда вы работаете в терминале вручную, ошибка команды просто отображается, и вы решаете, что делать дальше. В агентной системе ошибка должна попасть самому агенту как </a:t>
            </a:r>
            <a:r>
              <a:rPr lang="en-US" sz="11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структурированная информация</a:t>
            </a: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1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Система оборачивает выполнение инструментов так, чтобы сбой не разрушал весь процесс. Ошибка преобразуется в результат и возвращается модели.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00698" y="2472035"/>
            <a:ext cx="2963987" cy="13507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47151" y="2642295"/>
            <a:ext cx="254727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Ошибка инструмента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4247151" y="2999482"/>
            <a:ext cx="2547278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Конкретное действие завершилось неудачно — агент видит причину и может скорректировать путь.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00698" y="3943747"/>
            <a:ext cx="2963987" cy="1568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247151" y="4114006"/>
            <a:ext cx="254727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Ошибка задачи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4247151" y="4471194"/>
            <a:ext cx="2547278" cy="87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Вся задача не может быть выполнена — это принципиально другой исход, требующий другой реакции.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1933"/>
            <a:ext cx="10868745" cy="517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Таймауты как границы безопасности</a:t>
            </a:r>
            <a:endParaRPr lang="en-US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976" y="1439565"/>
            <a:ext cx="3364424" cy="33645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13160" y="2749252"/>
            <a:ext cx="6923311" cy="74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Не каждая проблема возвращает явную ошибку. Иногда команда просто работает слишком долго или процесс зависает. Таймаут — это </a:t>
            </a:r>
            <a:r>
              <a:rPr lang="en-US" sz="13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граница, которая не позволяет одному неудачному действию бесконечно удерживать весь процесс</a:t>
            </a: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61475" y="5130105"/>
            <a:ext cx="3526245" cy="1185962"/>
          </a:xfrm>
          <a:prstGeom prst="roundRect">
            <a:avLst>
              <a:gd name="adj" fmla="val 5862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33317" y="5301952"/>
            <a:ext cx="3182560" cy="258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Короткие команды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33317" y="5647531"/>
            <a:ext cx="3182560" cy="248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Жёсткий timeout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32675" y="5130105"/>
            <a:ext cx="3526245" cy="1185962"/>
          </a:xfrm>
          <a:prstGeom prst="roundRect">
            <a:avLst>
              <a:gd name="adj" fmla="val 5862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04518" y="5301952"/>
            <a:ext cx="3182560" cy="258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Долгие процессы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04518" y="5647531"/>
            <a:ext cx="3182560" cy="496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Фоновый режим с отдельным контролем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003876" y="5130105"/>
            <a:ext cx="3526345" cy="1185962"/>
          </a:xfrm>
          <a:prstGeom prst="roundRect">
            <a:avLst>
              <a:gd name="adj" fmla="val 5862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75718" y="5301952"/>
            <a:ext cx="3182659" cy="258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Исследование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175718" y="5647531"/>
            <a:ext cx="3182659" cy="248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Лимит по числу итераций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8" y="127496"/>
            <a:ext cx="4401829" cy="66029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304230"/>
            <a:ext cx="6296860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Отказоустойчивость без автоматизма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5233360" y="2597051"/>
            <a:ext cx="6296860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Отказоустойчивость означает, что отдельный неудачный шаг не должен разрушать всю работу, если существует безопасный способ продолжения. Когда один субагент завершается ошибкой, родительский агент получает статус и описание причины, а затем решает, как действовать дальше.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110928" y="3803551"/>
            <a:ext cx="3185834" cy="1750219"/>
          </a:xfrm>
          <a:prstGeom prst="roundRect">
            <a:avLst>
              <a:gd name="adj" fmla="val 6998"/>
            </a:avLst>
          </a:prstGeom>
          <a:solidFill>
            <a:srgbClr val="7DDB51"/>
          </a:solidFill>
          <a:ln/>
        </p:spPr>
      </p:sp>
      <p:sp>
        <p:nvSpPr>
          <p:cNvPr id="7" name="Text 4"/>
          <p:cNvSpPr/>
          <p:nvPr/>
        </p:nvSpPr>
        <p:spPr>
          <a:xfrm>
            <a:off x="5280984" y="3956645"/>
            <a:ext cx="2845721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r>
              <a:rPr lang="en-US" sz="16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 Безопасно повторить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5280984" y="4381798"/>
            <a:ext cx="2845721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Чтение файла, получение статуса, запрос данных — операции без побочных эффектов.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595601" y="3956645"/>
            <a:ext cx="2940969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⚠️</a:t>
            </a:r>
            <a:r>
              <a:rPr lang="en-US" sz="16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 Требует осторожности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8595601" y="4381798"/>
            <a:ext cx="2940969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Создание платежа, удаление ресурса, изменение production-системы — здесь нужна особая логика, а не автоматический retry.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2385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Что такое Tool в Hermes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168029"/>
            <a:ext cx="5203794" cy="2891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Tool — это конкретная функция, которую языковая модель может попросить выполнить. Сама модель не выполняет команду терминала и не читает файл напрямую. Она формирует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структурированный вызов инструмента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система принимает его, проверяет параметры, запускает обработчик и возвращает результат модели.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Модель остаётся системой принятия решений, а Tool становится способом воздействовать на внешнюю среду.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2776" y="2210594"/>
            <a:ext cx="378014" cy="37802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47024" y="2275483"/>
            <a:ext cx="45895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Файловый набор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947024" y="2759770"/>
            <a:ext cx="45895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Чтение, запись, поиск, изменение файлов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32776" y="3440212"/>
            <a:ext cx="378014" cy="37802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47024" y="3505101"/>
            <a:ext cx="45895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Терминальный набор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6947024" y="3989388"/>
            <a:ext cx="45895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Команды и управление процессами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32776" y="4669830"/>
            <a:ext cx="378014" cy="37802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947024" y="4734719"/>
            <a:ext cx="45895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Делегирование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6947024" y="5219005"/>
            <a:ext cx="45895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Передача задачи другому агенту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9620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Разные интерфейсы — разные инструменты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364879"/>
            <a:ext cx="2009923" cy="12422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843338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CLI-инструмент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252020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Взаимодействует с системой через командную строку. Результат — вывод команды и код завершения.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135" y="2364879"/>
            <a:ext cx="2009923" cy="12422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3843338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API-инструмент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4252020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Работает через программный интерфейс внешней системы. Модель не обязана знать детали HTTP-запроса.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794" y="2364879"/>
            <a:ext cx="2009923" cy="124221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3843338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Git-операции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4252020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Чтение diff или статуса — низкий риск. Push или переписывание истории — высокий риск. Инструменты оцениваются по последствиям.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501" y="134541"/>
            <a:ext cx="4392503" cy="65889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471712"/>
            <a:ext cx="6296860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Как модель понимает инструмент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661475" y="2849959"/>
            <a:ext cx="6296860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Чтобы модель могла использовать Tool, недостаточно написать функцию и дать ей имя. Модель должна получить </a:t>
            </a:r>
            <a:r>
              <a:rPr lang="en-US" sz="14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описание того, что делает функция и какие аргументы она принимает</a:t>
            </a: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— обычно через schema с именем, описанием и структурой параметров.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30748" y="4354116"/>
            <a:ext cx="6027587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Хорошее описание отвечает не только на вопрос «что технически делает функция», но и «когда модель должна её использовать». Это помогает агенту выбирать правильный инструмент в нужный момент.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61475" y="4162227"/>
            <a:ext cx="25399" cy="1224062"/>
          </a:xfrm>
          <a:prstGeom prst="roundRect">
            <a:avLst>
              <a:gd name="adj" fmla="val 50001"/>
            </a:avLst>
          </a:prstGeom>
          <a:solidFill>
            <a:srgbClr val="7DDB51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61157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Валидация как защита от ошибок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442" y="2278856"/>
            <a:ext cx="6227408" cy="30613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54673" y="2551619"/>
            <a:ext cx="1424167" cy="178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Коррекция модели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054673" y="2780283"/>
            <a:ext cx="2879983" cy="135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Модель получает и исправляет ввод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054673" y="3266886"/>
            <a:ext cx="1424167" cy="178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Обработка ошибок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054673" y="3495549"/>
            <a:ext cx="2879983" cy="135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Хендлер ловит и структурирует ошибки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054673" y="3982152"/>
            <a:ext cx="1424167" cy="178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Проверка типов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054673" y="4210816"/>
            <a:ext cx="2879983" cy="135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Проверка типов и диапазонов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061002" y="4697419"/>
            <a:ext cx="1933505" cy="178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Формирование параметров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061002" y="4926082"/>
            <a:ext cx="2879983" cy="135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Модель создает аргументы функции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8002189" y="2060079"/>
            <a:ext cx="3534282" cy="3499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После того как модель решила вызвать функцию, она должна сформировать параметры, соответствующие ожидаемой структуре. Модель может случайно передать строку вместо числа или значение вне допустимого диапазона.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Schema помогает модели сформировать корректный вызов, но </a:t>
            </a:r>
            <a:r>
              <a:rPr lang="en-US" sz="13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обработчик всё равно должен проверять входные данные</a:t>
            </a: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 Система оборачивает ошибки выполнения и возвращает их модели в контролируемом формате, позволяя агенту сформировать новый корректный вызов.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8417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Skill и Tool — разные уровни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525350" y="2058293"/>
            <a:ext cx="5476043" cy="3615531"/>
          </a:xfrm>
          <a:prstGeom prst="roundRect">
            <a:avLst>
              <a:gd name="adj" fmla="val 3764"/>
            </a:avLst>
          </a:prstGeom>
          <a:solidFill>
            <a:srgbClr val="061B40"/>
          </a:solidFill>
          <a:ln/>
        </p:spPr>
      </p:sp>
      <p:sp>
        <p:nvSpPr>
          <p:cNvPr id="4" name="Text 2"/>
          <p:cNvSpPr/>
          <p:nvPr/>
        </p:nvSpPr>
        <p:spPr>
          <a:xfrm>
            <a:off x="714357" y="2247305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7DDB51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Tool</a:t>
            </a:r>
            <a:r>
              <a:rPr lang="en-US" sz="1850" b="1" dirty="0">
                <a:solidFill>
                  <a:srgbClr val="FFFFFF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 — что агент может сделать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714357" y="2731591"/>
            <a:ext cx="5098029" cy="1379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Конкретное действие: прочитать файл, выполнить команду, получить Git diff, найти строку в коде.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Отвечает на вопрос: </a:t>
            </a:r>
            <a:r>
              <a:rPr lang="en-US" sz="1450" i="1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«Какие операции технически доступны агенту?»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332776" y="2247305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09F42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Skill</a:t>
            </a:r>
            <a:r>
              <a:rPr lang="en-US" sz="18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 — как агент должен действовать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332776" y="2731591"/>
            <a:ext cx="5203794" cy="277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Процедурная память агента: инструкции, шаблоны и сценарии для решения повторяющихся классов задач.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Например, </a:t>
            </a:r>
            <a:r>
              <a:rPr lang="en-US" sz="14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diff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— это Tool. Но полноценный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code review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— это Skill, который объясняет агенту, когда получать diff, что проверять, когда запускать тесты и как оформлять результат.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Отвечает на вопрос: </a:t>
            </a:r>
            <a:r>
              <a:rPr lang="en-US" sz="1450" i="1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«Как использовать доступные возможности для решения задачи?»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794</Words>
  <Application>Microsoft Office PowerPoint</Application>
  <PresentationFormat>Широкоэкранный</PresentationFormat>
  <Paragraphs>78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Noto Color Emoji</vt:lpstr>
      <vt:lpstr>Arial</vt:lpstr>
      <vt:lpstr>Nunito Sans</vt:lpstr>
      <vt:lpstr>Nunito Sans Bold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2026-09-20T18:57:46Z</dcterms:created>
  <dcterms:modified xsi:type="dcterms:W3CDTF">2026-09-20T18:58:21Z</dcterms:modified>
</cp:coreProperties>
</file>